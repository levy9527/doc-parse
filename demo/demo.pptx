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notesSlides/notesSlide1.xml" Type="http://schemas.openxmlformats.org/officeDocument/2006/relationships/notesSlide"/><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presProps.xml" Type="http://schemas.openxmlformats.org/officeDocument/2006/relationships/pres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notesSlides/notesSlide11.xml" Type="http://schemas.openxmlformats.org/officeDocument/2006/relationships/notesSlide"/><Relationship Id="rId33" Target="notesSlides/notesSlide12.xml" Type="http://schemas.openxmlformats.org/officeDocument/2006/relationships/notesSlide"/><Relationship Id="rId34" Target="notesSlides/notesSlide13.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欢迎参加今天的分享。在当今快节奏的商业环境中，如何高效地传递信息并影响决策至关重要。今天，我们将深入探讨一个在商业和技术领域越来越重要的概念——“Deck”。它不仅仅是PPT，更是一种战略性的沟通工具。让我们一起揭开它的神秘面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分享将分为四个部分。首先，我们会探讨“Deck”这个词的起源和它在商业语境中的多重含义。接着，我们会详细对比Deck与传统PPT的核心区别。然后，我们会介绍几种常见的Deck类型，如融资演示和销售演示。最后，我们将总结制作一份优秀Deck的关键要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我们来理解“Deck”这个词的来源。它的本意是“一副牌”。这个比喻非常贴切，因为一个Deck就像一副牌一样，是由多个独立部分组合而成，并且有其内在的顺序和策略。每一张幻灯片都像一张牌，有其特定的作用，共同服务于一个最终的战略目标。这就是Deck的核心——它是一种战略性的沟通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根据用途，Deck主要分为两种类型。第一种是“演讲辅助型Deck”，它非常简洁，主要用于现场演讲，需要演讲者的口头阐述来补充信息。第二种是“独立阅读型Deck”，它更像一份视觉化的报告，信息完整，逻辑清晰，让读者可以独立理解内容。了解这两种类型的区别，有助于我们根据不同场景选择合适的制作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我们来厘清一个常见的误区：Deck和PPT到底有什么区别？简单来说，PPT是一个工具，而Deck是一种思维模式。PPT的目的是展示信息，而Deck的目的是影响决策。PPT内容驱动，而Deck叙事驱动。PPT设计自由度高，而Deck强调简洁专业。理解这种思维模式的转变，是制作优秀Deck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虽然Deck和PPT有本质区别，但它们之间也有着紧密的联系。首先，Deck通常是用PPT软件制作的，PPT是实现Deck理念的工具。其次，Deck的内容基础仍然是传统的商业文档和数据。我们可以把Deck看作是PPT的一种高级形态，它是对传统PPT制作方式的一种进化，更注重沟通效率和说服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现在我们来看几种常见的Deck类型。首先是Pitch Deck，也就是融资演示Deck。它的唯一目的就是说服投资者。一个经典的Pitch Deck会遵循“问题-解决方案-市场规模-商业模式-团队-融资需求”的叙事结构。像Airbnb早期的Deck就是一个绝佳的例子，它用简洁的故事和数据成功获得了投资。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第二种常见的Deck是Sales Deck，即销售演示Deck。它的目标是推动销售，达成交易。Sales Deck必须以客户为中心，聚焦于解决客户的痛点。像Slack的Sales Deck，就通过展示惊人的用户活跃度数据，有力地证明了产品的价值，从而推动了销售。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除了Pitch Deck和Sales Deck，还有许多其他类型的Deck。比如，用于阐述公司战略的Strategy Deck，用于项目汇报的Status Update Deck，以及用于新产品发布的Product Launch Deck。每种Deck都有其特定的用途和结构，但其核心都是为了高效地沟通信息。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那么，如何制作一份优秀的Deck呢？首先是策略先行，明确你的目标和受众。其次是叙事为王，构建一个清晰的故事线，并且遵循“一页一议”的原则。最后是视觉优先，用精简的文字和高质量的视觉元素来增强表达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除了策略、叙事和视觉，数据支撑和持续迭代也至关重要。用具体的数据和社会证明来增强说服力，让你的论点更加可信。同时，一个优秀的Deck永远是迭代的产物，通过不断的测试和反馈来优化你的演示。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一下，Deck不仅仅是一种演示文稿，它更是一种思维模式、一种战略工具，也是一种沟通艺术。它要求我们从信息展示的思维模式，转变为影响决策的思维模式。掌握Deck的制作方法，将极大地提升你的商业沟通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我的分享到此结束，感谢大家的聆听。现在是问答环节，欢迎大家提问交流。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5.jpe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7.xml" Type="http://schemas.openxmlformats.org/officeDocument/2006/relationships/notesSlide"/><Relationship Id="rId2" Target="../media/image2.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notesSlides/notesSlide8.xml" Type="http://schemas.openxmlformats.org/officeDocument/2006/relationships/notesSlide"/><Relationship Id="rId2" Target="../media/image2.jpeg" Type="http://schemas.openxmlformats.org/officeDocument/2006/relationships/image"/><Relationship Id="rId3" Target="../media/image29.jpe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8.jpeg" Type="http://schemas.openxmlformats.org/officeDocument/2006/relationships/image"/><Relationship Id="rId4" Target="../media/image39.jpeg" Type="http://schemas.openxmlformats.org/officeDocument/2006/relationships/image"/><Relationship Id="rId5" Target="../media/image40.jpeg" Type="http://schemas.openxmlformats.org/officeDocument/2006/relationships/image"/><Relationship Id="rId6"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45.jpeg" Type="http://schemas.openxmlformats.org/officeDocument/2006/relationships/image"/><Relationship Id="rId8"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6.png" Type="http://schemas.openxmlformats.org/officeDocument/2006/relationships/image"/><Relationship Id="rId4" Target="../media/image47.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0.jpeg" Type="http://schemas.openxmlformats.org/officeDocument/2006/relationships/image"/><Relationship Id="rId3" Target="../notesSlides/notesSlide13.xml" Type="http://schemas.openxmlformats.org/officeDocument/2006/relationships/notesSlide"/><Relationship Id="rId4" Target="../media/image5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413000"/>
            <a:ext cx="12192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Deck是什么？</a:t>
            </a:r>
            <a:endParaRPr lang="en-US" sz="1100"/>
          </a:p>
        </p:txBody>
      </p:sp>
      <p:sp>
        <p:nvSpPr>
          <p:cNvPr name="AutoShape 4" id="4"/>
          <p:cNvSpPr/>
          <p:nvPr/>
        </p:nvSpPr>
        <p:spPr>
          <a:xfrm rot="0" flipH="false" flipV="false">
            <a:off x="5334000" y="4127500"/>
            <a:ext cx="1524000" cy="508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508500"/>
            <a:ext cx="1219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400" spc="400">
                <a:solidFill>
                  <a:srgbClr val="FFFFFF">
                    <a:alpha val="85098"/>
                  </a:srgbClr>
                </a:solidFill>
                <a:latin typeface="Noto Sans SC"/>
                <a:ea typeface="Noto Sans SC"/>
                <a:cs typeface="Noto Sans SC"/>
                <a:sym typeface="Noto Sans SC"/>
              </a:rPr>
              <a:t>商业演示的核心概念解析</a:t>
            </a:r>
            <a:endParaRPr lang="en-US" sz="1100"/>
          </a:p>
        </p:txBody>
      </p:sp>
      <p:sp>
        <p:nvSpPr>
          <p:cNvPr name="AutoShape 6" id="6"/>
          <p:cNvSpPr/>
          <p:nvPr/>
        </p:nvSpPr>
        <p:spPr>
          <a:xfrm rot="0" flipH="false" flipV="false">
            <a:off x="0" y="56515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alpha val="60000"/>
                  </a:srgbClr>
                </a:solidFill>
                <a:latin typeface="Noto Sans SC"/>
                <a:ea typeface="Noto Sans SC"/>
                <a:cs typeface="Noto Sans SC"/>
                <a:sym typeface="Noto Sans SC"/>
              </a:rPr>
              <a:t>从信息传递到决策影响，重构商业沟通的逻辑与艺术</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目录</a:t>
            </a:r>
            <a:endParaRPr lang="en-US" sz="1100"/>
          </a:p>
        </p:txBody>
      </p:sp>
      <p:sp>
        <p:nvSpPr>
          <p:cNvPr name="AutoShape 4" id="4"/>
          <p:cNvSpPr/>
          <p:nvPr/>
        </p:nvSpPr>
        <p:spPr>
          <a:xfrm rot="0" flipH="false" flipV="false">
            <a:off x="762000" y="1905000"/>
            <a:ext cx="5207000" cy="1968500"/>
          </a:xfrm>
          <a:prstGeom prst="roundRect">
            <a:avLst>
              <a:gd name="adj" fmla="val 0"/>
            </a:avLst>
          </a:prstGeom>
          <a:solidFill>
            <a:srgbClr val="FFFFFF">
              <a:alpha val="5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59000"/>
            <a:ext cx="406400" cy="406400"/>
          </a:xfrm>
          <a:prstGeom prst="rect">
            <a:avLst/>
          </a:prstGeom>
        </p:spPr>
      </p:pic>
      <p:sp>
        <p:nvSpPr>
          <p:cNvPr name="AutoShape 6" id="6"/>
          <p:cNvSpPr/>
          <p:nvPr/>
        </p:nvSpPr>
        <p:spPr>
          <a:xfrm rot="0" flipH="false" flipV="false">
            <a:off x="1587500" y="21717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01 Deck的多重身份</a:t>
            </a:r>
            <a:endParaRPr lang="en-US" sz="1100"/>
          </a:p>
        </p:txBody>
      </p:sp>
      <p:sp>
        <p:nvSpPr>
          <p:cNvPr name="AutoShape 7" id="7"/>
          <p:cNvSpPr/>
          <p:nvPr/>
        </p:nvSpPr>
        <p:spPr>
          <a:xfrm rot="0" flipH="false" flipV="false">
            <a:off x="1016000" y="27305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从“一副牌”的字面含义，演变至商业语境中“一组核心演示幻灯片”的专业术语，探索其在不同场景下的价值定位与深层内涵。</a:t>
            </a:r>
            <a:endParaRPr lang="en-US" sz="1100"/>
          </a:p>
        </p:txBody>
      </p:sp>
      <p:sp>
        <p:nvSpPr>
          <p:cNvPr name="AutoShape 8" id="8"/>
          <p:cNvSpPr/>
          <p:nvPr/>
        </p:nvSpPr>
        <p:spPr>
          <a:xfrm rot="0" flipH="false" flipV="false">
            <a:off x="6223000" y="1905000"/>
            <a:ext cx="5207000" cy="1968500"/>
          </a:xfrm>
          <a:prstGeom prst="roundRect">
            <a:avLst>
              <a:gd name="adj" fmla="val 0"/>
            </a:avLst>
          </a:prstGeom>
          <a:solidFill>
            <a:srgbClr val="FFFFFF">
              <a:alpha val="5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159000"/>
            <a:ext cx="406400" cy="406400"/>
          </a:xfrm>
          <a:prstGeom prst="rect">
            <a:avLst/>
          </a:prstGeom>
        </p:spPr>
      </p:pic>
      <p:sp>
        <p:nvSpPr>
          <p:cNvPr name="AutoShape 10" id="10"/>
          <p:cNvSpPr/>
          <p:nvPr/>
        </p:nvSpPr>
        <p:spPr>
          <a:xfrm rot="0" flipH="false" flipV="false">
            <a:off x="7048500" y="21717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02 Deck 与 PPT 的本质分野</a:t>
            </a:r>
            <a:endParaRPr lang="en-US" sz="1100"/>
          </a:p>
        </p:txBody>
      </p:sp>
      <p:sp>
        <p:nvSpPr>
          <p:cNvPr name="AutoShape 11" id="11"/>
          <p:cNvSpPr/>
          <p:nvPr/>
        </p:nvSpPr>
        <p:spPr>
          <a:xfrm rot="0" flipH="false" flipV="false">
            <a:off x="6477000" y="27305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不仅是制作工具的差异，更是“线性汇报”与“故事化叙事”的底层思维模式之别，重新理解商业演示的沟通逻辑与目标。</a:t>
            </a:r>
            <a:endParaRPr lang="en-US" sz="1100"/>
          </a:p>
        </p:txBody>
      </p:sp>
      <p:sp>
        <p:nvSpPr>
          <p:cNvPr name="AutoShape 12" id="12"/>
          <p:cNvSpPr/>
          <p:nvPr/>
        </p:nvSpPr>
        <p:spPr>
          <a:xfrm rot="0" flipH="false" flipV="false">
            <a:off x="762000" y="4191000"/>
            <a:ext cx="5207000" cy="1968500"/>
          </a:xfrm>
          <a:prstGeom prst="roundRect">
            <a:avLst>
              <a:gd name="adj" fmla="val 0"/>
            </a:avLst>
          </a:prstGeom>
          <a:solidFill>
            <a:srgbClr val="FFFFFF">
              <a:alpha val="5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445000"/>
            <a:ext cx="406400" cy="406400"/>
          </a:xfrm>
          <a:prstGeom prst="rect">
            <a:avLst/>
          </a:prstGeom>
        </p:spPr>
      </p:pic>
      <p:sp>
        <p:nvSpPr>
          <p:cNvPr name="AutoShape 14" id="14"/>
          <p:cNvSpPr/>
          <p:nvPr/>
        </p:nvSpPr>
        <p:spPr>
          <a:xfrm rot="0" flipH="false" flipV="false">
            <a:off x="1587500" y="44577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03 商业场景中的核心类型</a:t>
            </a:r>
            <a:endParaRPr lang="en-US" sz="1100"/>
          </a:p>
        </p:txBody>
      </p:sp>
      <p:sp>
        <p:nvSpPr>
          <p:cNvPr name="AutoShape 15" id="15"/>
          <p:cNvSpPr/>
          <p:nvPr/>
        </p:nvSpPr>
        <p:spPr>
          <a:xfrm rot="0" flipH="false" flipV="false">
            <a:off x="1016000" y="50165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深入解析Pitch Deck（融资路演）、Sales Deck（销售转化）等高频场景的设计目标、内容结构与受众关注点差异。</a:t>
            </a:r>
            <a:endParaRPr lang="en-US" sz="1100"/>
          </a:p>
        </p:txBody>
      </p:sp>
      <p:sp>
        <p:nvSpPr>
          <p:cNvPr name="AutoShape 16" id="16"/>
          <p:cNvSpPr/>
          <p:nvPr/>
        </p:nvSpPr>
        <p:spPr>
          <a:xfrm rot="0" flipH="false" flipV="false">
            <a:off x="6223000" y="4191000"/>
            <a:ext cx="5207000" cy="1968500"/>
          </a:xfrm>
          <a:prstGeom prst="roundRect">
            <a:avLst>
              <a:gd name="adj" fmla="val 0"/>
            </a:avLst>
          </a:prstGeom>
          <a:solidFill>
            <a:srgbClr val="FFFFFF">
              <a:alpha val="5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445000"/>
            <a:ext cx="406400" cy="406400"/>
          </a:xfrm>
          <a:prstGeom prst="rect">
            <a:avLst/>
          </a:prstGeom>
        </p:spPr>
      </p:pic>
      <p:sp>
        <p:nvSpPr>
          <p:cNvPr name="AutoShape 18" id="18"/>
          <p:cNvSpPr/>
          <p:nvPr/>
        </p:nvSpPr>
        <p:spPr>
          <a:xfrm rot="0" flipH="false" flipV="false">
            <a:off x="7048500" y="44577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04 打造优秀Deck的黄金法则</a:t>
            </a:r>
            <a:endParaRPr lang="en-US" sz="1100"/>
          </a:p>
        </p:txBody>
      </p:sp>
      <p:sp>
        <p:nvSpPr>
          <p:cNvPr name="AutoShape 19" id="19"/>
          <p:cNvSpPr/>
          <p:nvPr/>
        </p:nvSpPr>
        <p:spPr>
          <a:xfrm rot="0" flipH="false" flipV="false">
            <a:off x="6477000" y="50165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融合策略先行、叙事为王、视觉赋能与数据佐证四大关键要素，构建逻辑自洽、情感共鸣且极具说服力的商业演示方案。</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01 Deck的多重身份</a:t>
            </a:r>
            <a:endParaRPr lang="en-US" sz="1100"/>
          </a:p>
        </p:txBody>
      </p:sp>
      <p:sp>
        <p:nvSpPr>
          <p:cNvPr name="AutoShape 4" id="4"/>
          <p:cNvSpPr/>
          <p:nvPr/>
        </p:nvSpPr>
        <p:spPr>
          <a:xfrm rot="0" flipH="false" flipV="false">
            <a:off x="762000" y="1524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800">
                <a:solidFill>
                  <a:srgbClr val="4B5563"/>
                </a:solidFill>
                <a:latin typeface="Noto Sans SC"/>
                <a:ea typeface="Noto Sans SC"/>
                <a:cs typeface="Noto Sans SC"/>
                <a:sym typeface="Noto Sans SC"/>
              </a:rPr>
              <a:t>从“一副牌”的原始意象出发，洞察其作为商业沟通载体的深层内核</a:t>
            </a:r>
            <a:endParaRPr lang="en-US" sz="1100"/>
          </a:p>
        </p:txBody>
      </p:sp>
      <p:sp>
        <p:nvSpPr>
          <p:cNvPr name="AutoShape 5" id="5"/>
          <p:cNvSpPr/>
          <p:nvPr/>
        </p:nvSpPr>
        <p:spPr>
          <a:xfrm rot="0" flipH="false" flipV="false">
            <a:off x="762000" y="2413000"/>
            <a:ext cx="3378200" cy="2349500"/>
          </a:xfrm>
          <a:prstGeom prst="roundRect">
            <a:avLst>
              <a:gd name="adj" fmla="val 0"/>
            </a:avLst>
          </a:prstGeom>
          <a:solidFill>
            <a:srgbClr val="FFFFFF">
              <a:alpha val="6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667000"/>
            <a:ext cx="355600" cy="355600"/>
          </a:xfrm>
          <a:prstGeom prst="rect">
            <a:avLst/>
          </a:prstGeom>
        </p:spPr>
      </p:pic>
      <p:sp>
        <p:nvSpPr>
          <p:cNvPr name="AutoShape 7" id="7"/>
          <p:cNvSpPr/>
          <p:nvPr/>
        </p:nvSpPr>
        <p:spPr>
          <a:xfrm rot="0" flipH="false" flipV="false">
            <a:off x="1473200" y="2667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组合性 · 聚合</a:t>
            </a:r>
            <a:endParaRPr lang="en-US" sz="1100"/>
          </a:p>
        </p:txBody>
      </p:sp>
      <p:sp>
        <p:nvSpPr>
          <p:cNvPr name="AutoShape 8" id="8"/>
          <p:cNvSpPr/>
          <p:nvPr/>
        </p:nvSpPr>
        <p:spPr>
          <a:xfrm rot="0" flipH="false" flipV="false">
            <a:off x="1016000" y="3238500"/>
            <a:ext cx="2870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如同扑克牌由54张独立牌面构成，Deck 是多张幻灯片的系统化组合。它不是孤立信息的碎片，而是围绕核心主题有机聚合的整体单元。</a:t>
            </a:r>
            <a:endParaRPr lang="en-US" sz="1100"/>
          </a:p>
        </p:txBody>
      </p:sp>
      <p:sp>
        <p:nvSpPr>
          <p:cNvPr name="AutoShape 9" id="9"/>
          <p:cNvSpPr/>
          <p:nvPr/>
        </p:nvSpPr>
        <p:spPr>
          <a:xfrm rot="0" flipH="false" flipV="false">
            <a:off x="4406900" y="2413000"/>
            <a:ext cx="3378200" cy="2349500"/>
          </a:xfrm>
          <a:prstGeom prst="roundRect">
            <a:avLst>
              <a:gd name="adj" fmla="val 0"/>
            </a:avLst>
          </a:prstGeom>
          <a:solidFill>
            <a:srgbClr val="FFFFFF">
              <a:alpha val="6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2667000"/>
            <a:ext cx="355600" cy="355600"/>
          </a:xfrm>
          <a:prstGeom prst="rect">
            <a:avLst/>
          </a:prstGeom>
        </p:spPr>
      </p:pic>
      <p:sp>
        <p:nvSpPr>
          <p:cNvPr name="AutoShape 11" id="11"/>
          <p:cNvSpPr/>
          <p:nvPr/>
        </p:nvSpPr>
        <p:spPr>
          <a:xfrm rot="0" flipH="false" flipV="false">
            <a:off x="5118100" y="2667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有序性 · 脉络</a:t>
            </a:r>
            <a:endParaRPr lang="en-US" sz="1100"/>
          </a:p>
        </p:txBody>
      </p:sp>
      <p:sp>
        <p:nvSpPr>
          <p:cNvPr name="AutoShape 12" id="12"/>
          <p:cNvSpPr/>
          <p:nvPr/>
        </p:nvSpPr>
        <p:spPr>
          <a:xfrm rot="0" flipH="false" flipV="false">
            <a:off x="4660900" y="3238500"/>
            <a:ext cx="2870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幻灯片按预设的逻辑顺序层层递进，如同洗牌后的发牌节奏。这种内在的叙事秩序，构建起连贯、清晰且富有说服力的表达闭环。</a:t>
            </a:r>
            <a:endParaRPr lang="en-US" sz="1100"/>
          </a:p>
        </p:txBody>
      </p:sp>
      <p:sp>
        <p:nvSpPr>
          <p:cNvPr name="AutoShape 13" id="13"/>
          <p:cNvSpPr/>
          <p:nvPr/>
        </p:nvSpPr>
        <p:spPr>
          <a:xfrm rot="0" flipH="false" flipV="false">
            <a:off x="8051800" y="2413000"/>
            <a:ext cx="3378200" cy="2349500"/>
          </a:xfrm>
          <a:prstGeom prst="roundRect">
            <a:avLst>
              <a:gd name="adj" fmla="val 0"/>
            </a:avLst>
          </a:prstGeom>
          <a:solidFill>
            <a:srgbClr val="FFFFFF">
              <a:alpha val="6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2667000"/>
            <a:ext cx="355600" cy="355600"/>
          </a:xfrm>
          <a:prstGeom prst="rect">
            <a:avLst/>
          </a:prstGeom>
        </p:spPr>
      </p:pic>
      <p:sp>
        <p:nvSpPr>
          <p:cNvPr name="AutoShape 15" id="15"/>
          <p:cNvSpPr/>
          <p:nvPr/>
        </p:nvSpPr>
        <p:spPr>
          <a:xfrm rot="0" flipH="false" flipV="false">
            <a:off x="8763000" y="2667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策略性 · 目标</a:t>
            </a:r>
            <a:endParaRPr lang="en-US" sz="1100"/>
          </a:p>
        </p:txBody>
      </p:sp>
      <p:sp>
        <p:nvSpPr>
          <p:cNvPr name="AutoShape 16" id="16"/>
          <p:cNvSpPr/>
          <p:nvPr/>
        </p:nvSpPr>
        <p:spPr>
          <a:xfrm rot="0" flipH="false" flipV="false">
            <a:off x="8305800" y="3238500"/>
            <a:ext cx="2870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每一页都承载特定的沟通目的，如同牌局中的关键牌张。所有内容设计均服务于最终的商业目标——无论是说服、决策还是共识达成。</a:t>
            </a:r>
            <a:endParaRPr lang="en-US" sz="1100"/>
          </a:p>
        </p:txBody>
      </p:sp>
      <p:sp>
        <p:nvSpPr>
          <p:cNvPr name="AutoShape 17" id="17"/>
          <p:cNvSpPr/>
          <p:nvPr/>
        </p:nvSpPr>
        <p:spPr>
          <a:xfrm rot="0" flipH="false" flipV="false">
            <a:off x="762000" y="5080000"/>
            <a:ext cx="10668000" cy="1143000"/>
          </a:xfrm>
          <a:prstGeom prst="roundRect">
            <a:avLst>
              <a:gd name="adj" fmla="val 0"/>
            </a:avLst>
          </a:prstGeom>
          <a:solidFill>
            <a:srgbClr val="22C55E">
              <a:alpha val="8000"/>
            </a:srgbClr>
          </a:solidFill>
          <a:ln cmpd="sng" cap="flat">
            <a:solidFill>
              <a:srgbClr val="0CAC47">
                <a:alpha val="8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52705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15803D"/>
                </a:solidFill>
                <a:latin typeface="Noto Sans SC"/>
                <a:ea typeface="Noto Sans SC"/>
                <a:cs typeface="Noto Sans SC"/>
                <a:sym typeface="Noto Sans SC"/>
              </a:rPr>
              <a:t>核心洞察：</a:t>
            </a:r>
            <a:r>
              <a:rPr lang="en-US" b="false" i="false" strike="noStrike" u="none" sz="1500">
                <a:solidFill>
                  <a:srgbClr val="1F2937"/>
                </a:solidFill>
                <a:latin typeface="Noto Sans SC"/>
                <a:ea typeface="Noto Sans SC"/>
                <a:cs typeface="Noto Sans SC"/>
                <a:sym typeface="Noto Sans SC"/>
              </a:rPr>
              <a:t>Deck 是一种“战略沟通容器”，它将零散的观点、数据与故事编织成一个有机整体，旨在实现从信息传递到价值说服的跨越，是商业语境中不可或缺的决策辅助工具。</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01 Deck的多重身份</a:t>
            </a:r>
            <a:endParaRPr lang="en-US" sz="1100"/>
          </a:p>
        </p:txBody>
      </p:sp>
      <p:pic>
        <p:nvPicPr>
          <p:cNvPr name="Picture 4" id="4"/>
          <p:cNvPicPr>
            <a:picLocks noChangeAspect="true"/>
          </p:cNvPicPr>
          <p:nvPr/>
        </p:nvPicPr>
        <p:blipFill>
          <a:blip r:embed="rId3"/>
          <a:srcRect l="1420" r="1420" t="0" b="0"/>
          <a:stretch>
            <a:fillRect/>
          </a:stretch>
        </p:blipFill>
        <p:spPr>
          <a:xfrm rot="0" flipH="false" flipV="false">
            <a:off x="762000" y="1905000"/>
            <a:ext cx="4826000" cy="2794000"/>
          </a:xfrm>
          <a:prstGeom prst="roundRect">
            <a:avLst>
              <a:gd name="adj" fmla="val 5454"/>
            </a:avLst>
          </a:prstGeom>
          <a:noFill/>
          <a:ln w="25400" cmpd="sng" cap="flat">
            <a:noFill/>
            <a:prstDash val="solid"/>
            <a:round/>
          </a:ln>
          <a:effectLst>
            <a:outerShdw dir="2700000" dist="50800" blurRad="127000" algn="tl" rotWithShape="false">
              <a:srgbClr val="000000">
                <a:alpha val="10000"/>
              </a:srgbClr>
            </a:outerShdw>
          </a:effectLst>
        </p:spPr>
      </p:pic>
      <p:sp>
        <p:nvSpPr>
          <p:cNvPr name="AutoShape 5" id="5"/>
          <p:cNvSpPr/>
          <p:nvPr/>
        </p:nvSpPr>
        <p:spPr>
          <a:xfrm rot="0" flipH="false" flipV="false">
            <a:off x="762000" y="49530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演示文稿不仅仅是幻灯片的堆叠，它承载着信息传递的使命。根据受众与使用场景的不同，我们将其划分为两种截然不同的核心类型，每种都有其独特的设计逻辑。</a:t>
            </a:r>
            <a:endParaRPr lang="en-US" sz="1100"/>
          </a:p>
        </p:txBody>
      </p:sp>
      <p:sp>
        <p:nvSpPr>
          <p:cNvPr name="AutoShape 6" id="6"/>
          <p:cNvSpPr/>
          <p:nvPr/>
        </p:nvSpPr>
        <p:spPr>
          <a:xfrm rot="0" flipH="false" flipV="false">
            <a:off x="5969000" y="1905000"/>
            <a:ext cx="5588000" cy="2095500"/>
          </a:xfrm>
          <a:prstGeom prst="roundRect">
            <a:avLst>
              <a:gd name="adj" fmla="val 0"/>
            </a:avLst>
          </a:prstGeom>
          <a:solidFill>
            <a:srgbClr val="F0FDF4">
              <a:alpha val="85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969000" y="1905000"/>
            <a:ext cx="76200" cy="2095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248400" y="2095500"/>
            <a:ext cx="355600" cy="355600"/>
          </a:xfrm>
          <a:prstGeom prst="rect">
            <a:avLst/>
          </a:prstGeom>
        </p:spPr>
      </p:pic>
      <p:sp>
        <p:nvSpPr>
          <p:cNvPr name="AutoShape 9" id="9"/>
          <p:cNvSpPr/>
          <p:nvPr/>
        </p:nvSpPr>
        <p:spPr>
          <a:xfrm rot="0" flipH="false" flipV="false">
            <a:off x="6731000" y="20828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Presentation Deck · 演讲辅助型</a:t>
            </a:r>
            <a:endParaRPr lang="en-US" sz="1100"/>
          </a:p>
        </p:txBody>
      </p:sp>
      <p:sp>
        <p:nvSpPr>
          <p:cNvPr name="AutoShape 10" id="10"/>
          <p:cNvSpPr/>
          <p:nvPr/>
        </p:nvSpPr>
        <p:spPr>
          <a:xfrm rot="0" flipH="false" flipV="false">
            <a:off x="6248400" y="2603500"/>
            <a:ext cx="5080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22C55E"/>
                </a:solidFill>
                <a:latin typeface="Noto Sans SC"/>
                <a:ea typeface="Noto Sans SC"/>
                <a:cs typeface="Noto Sans SC"/>
                <a:sym typeface="Noto Sans SC"/>
              </a:rPr>
              <a:t>核心理念：</a:t>
            </a:r>
            <a:r>
              <a:rPr lang="en-US" b="false" i="false" strike="noStrike" u="none" sz="1300">
                <a:solidFill>
                  <a:srgbClr val="374151"/>
                </a:solidFill>
                <a:latin typeface="Noto Sans SC"/>
                <a:ea typeface="Noto Sans SC"/>
                <a:cs typeface="Noto Sans SC"/>
                <a:sym typeface="Noto Sans SC"/>
              </a:rPr>
              <a:t>遵循“少即是多”，画面简洁，依赖演讲者的口头阐述补充细节，侧重现场感染力。</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300">
                <a:solidFill>
                  <a:srgbClr val="22C55E"/>
                </a:solidFill>
                <a:latin typeface="Noto Sans SC"/>
                <a:ea typeface="Noto Sans SC"/>
                <a:cs typeface="Noto Sans SC"/>
                <a:sym typeface="Noto Sans SC"/>
              </a:rPr>
              <a:t>典型场景：</a:t>
            </a:r>
            <a:r>
              <a:rPr lang="en-US" b="false" i="false" strike="noStrike" u="none" sz="1300">
                <a:solidFill>
                  <a:srgbClr val="374151"/>
                </a:solidFill>
                <a:latin typeface="Noto Sans SC"/>
                <a:ea typeface="Noto Sans SC"/>
                <a:cs typeface="Noto Sans SC"/>
                <a:sym typeface="Noto Sans SC"/>
              </a:rPr>
              <a:t>项目路演、产品发布会、公司年会、部门内部培训与工作汇报。</a:t>
            </a:r>
          </a:p>
        </p:txBody>
      </p:sp>
      <p:sp>
        <p:nvSpPr>
          <p:cNvPr name="AutoShape 11" id="11"/>
          <p:cNvSpPr/>
          <p:nvPr/>
        </p:nvSpPr>
        <p:spPr>
          <a:xfrm rot="0" flipH="false" flipV="false">
            <a:off x="5969000" y="4191000"/>
            <a:ext cx="5588000" cy="2095500"/>
          </a:xfrm>
          <a:prstGeom prst="roundRect">
            <a:avLst>
              <a:gd name="adj" fmla="val 0"/>
            </a:avLst>
          </a:prstGeom>
          <a:solidFill>
            <a:srgbClr val="F0FDF4">
              <a:alpha val="85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969000" y="4191000"/>
            <a:ext cx="76200" cy="2095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248400" y="4381500"/>
            <a:ext cx="355600" cy="355600"/>
          </a:xfrm>
          <a:prstGeom prst="rect">
            <a:avLst/>
          </a:prstGeom>
        </p:spPr>
      </p:pic>
      <p:sp>
        <p:nvSpPr>
          <p:cNvPr name="AutoShape 14" id="14"/>
          <p:cNvSpPr/>
          <p:nvPr/>
        </p:nvSpPr>
        <p:spPr>
          <a:xfrm rot="0" flipH="false" flipV="false">
            <a:off x="6731000" y="43688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Reading Deck · 独立阅读型</a:t>
            </a:r>
            <a:endParaRPr lang="en-US" sz="1100"/>
          </a:p>
        </p:txBody>
      </p:sp>
      <p:sp>
        <p:nvSpPr>
          <p:cNvPr name="AutoShape 15" id="15"/>
          <p:cNvSpPr/>
          <p:nvPr/>
        </p:nvSpPr>
        <p:spPr>
          <a:xfrm rot="0" flipH="false" flipV="false">
            <a:off x="6248400" y="4889500"/>
            <a:ext cx="5080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22C55E"/>
                </a:solidFill>
                <a:latin typeface="Noto Sans SC"/>
                <a:ea typeface="Noto Sans SC"/>
                <a:cs typeface="Noto Sans SC"/>
                <a:sym typeface="Noto Sans SC"/>
              </a:rPr>
              <a:t>核心理念：</a:t>
            </a:r>
            <a:r>
              <a:rPr lang="en-US" b="false" i="false" strike="noStrike" u="none" sz="1300">
                <a:solidFill>
                  <a:srgbClr val="374151"/>
                </a:solidFill>
                <a:latin typeface="Noto Sans SC"/>
                <a:ea typeface="Noto Sans SC"/>
                <a:cs typeface="Noto Sans SC"/>
                <a:sym typeface="Noto Sans SC"/>
              </a:rPr>
              <a:t>具备“自包含性”，信息完整、逻辑严密，无需演讲者在场也能让读者完全理解内容。</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300">
                <a:solidFill>
                  <a:srgbClr val="22C55E"/>
                </a:solidFill>
                <a:latin typeface="Noto Sans SC"/>
                <a:ea typeface="Noto Sans SC"/>
                <a:cs typeface="Noto Sans SC"/>
                <a:sym typeface="Noto Sans SC"/>
              </a:rPr>
              <a:t>典型场景：</a:t>
            </a:r>
            <a:r>
              <a:rPr lang="en-US" b="false" i="false" strike="noStrike" u="none" sz="1300">
                <a:solidFill>
                  <a:srgbClr val="374151"/>
                </a:solidFill>
                <a:latin typeface="Noto Sans SC"/>
                <a:ea typeface="Noto Sans SC"/>
                <a:cs typeface="Noto Sans SC"/>
                <a:sym typeface="Noto Sans SC"/>
              </a:rPr>
              <a:t>商业计划书(BP)、市场调研报告、项目复盘总结、跨部门协作的详细方案。</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02 Deck vs. PPT</a:t>
            </a:r>
            <a:endParaRPr lang="en-US" sz="1100"/>
          </a:p>
        </p:txBody>
      </p:sp>
      <p:sp>
        <p:nvSpPr>
          <p:cNvPr name="AutoShape 4" id="4"/>
          <p:cNvSpPr/>
          <p:nvPr/>
        </p:nvSpPr>
        <p:spPr>
          <a:xfrm rot="0" flipH="false" flipV="false">
            <a:off x="762000" y="1778000"/>
            <a:ext cx="10668000" cy="787400"/>
          </a:xfrm>
          <a:prstGeom prst="roundRect">
            <a:avLst>
              <a:gd name="adj" fmla="val 0"/>
            </a:avLst>
          </a:prstGeom>
          <a:solidFill>
            <a:srgbClr val="FFFFFF">
              <a:alpha val="6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778000"/>
            <a:ext cx="1778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01 本质</a:t>
            </a:r>
            <a:endParaRPr lang="en-US" sz="1100"/>
          </a:p>
        </p:txBody>
      </p:sp>
      <p:cxnSp>
        <p:nvCxnSpPr>
          <p:cNvPr name="Connector 6" id="6"/>
          <p:cNvCxnSpPr/>
          <p:nvPr/>
        </p:nvCxnSpPr>
        <p:spPr>
          <a:xfrm rot="5309553" flipH="false" flipV="false">
            <a:off x="2552700" y="2165434"/>
            <a:ext cx="4826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7" id="7"/>
          <p:cNvSpPr/>
          <p:nvPr/>
        </p:nvSpPr>
        <p:spPr>
          <a:xfrm rot="0" flipH="false" flipV="false">
            <a:off x="2984500" y="17780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B5563"/>
                </a:solidFill>
                <a:latin typeface="Noto Sans SC"/>
                <a:ea typeface="Noto Sans SC"/>
                <a:cs typeface="Noto Sans SC"/>
                <a:sym typeface="Noto Sans SC"/>
              </a:rPr>
              <a:t>工具属性：</a:t>
            </a:r>
            <a:r>
              <a:rPr lang="en-US" b="false" i="false" strike="noStrike" u="none" sz="1300">
                <a:solidFill>
                  <a:srgbClr val="6B7280"/>
                </a:solidFill>
                <a:latin typeface="Noto Sans SC"/>
                <a:ea typeface="Noto Sans SC"/>
                <a:cs typeface="Noto Sans SC"/>
                <a:sym typeface="Noto Sans SC"/>
              </a:rPr>
              <a:t>单纯的演示文稿制作软件，侧重功能实现与信息承载。</a:t>
            </a:r>
            <a:endParaRPr lang="en-US" sz="1100"/>
          </a:p>
        </p:txBody>
      </p:sp>
      <p:sp>
        <p:nvSpPr>
          <p:cNvPr name="AutoShape 8" id="8"/>
          <p:cNvSpPr/>
          <p:nvPr/>
        </p:nvSpPr>
        <p:spPr>
          <a:xfrm rot="0" flipH="false" flipV="false">
            <a:off x="7112000" y="17780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2C55E"/>
                </a:solidFill>
                <a:latin typeface="Noto Sans SC"/>
                <a:ea typeface="Noto Sans SC"/>
                <a:cs typeface="Noto Sans SC"/>
                <a:sym typeface="Noto Sans SC"/>
              </a:rPr>
              <a:t>思维模式：</a:t>
            </a:r>
            <a:r>
              <a:rPr lang="en-US" b="false" i="false" strike="noStrike" u="none" sz="1300">
                <a:solidFill>
                  <a:srgbClr val="374151"/>
                </a:solidFill>
                <a:latin typeface="Noto Sans SC"/>
                <a:ea typeface="Noto Sans SC"/>
                <a:cs typeface="Noto Sans SC"/>
                <a:sym typeface="Noto Sans SC"/>
              </a:rPr>
              <a:t>以叙事为核心的沟通理念，追求逻辑闭环与高效说服。</a:t>
            </a:r>
            <a:endParaRPr lang="en-US" sz="1100"/>
          </a:p>
        </p:txBody>
      </p:sp>
      <p:sp>
        <p:nvSpPr>
          <p:cNvPr name="AutoShape 9" id="9"/>
          <p:cNvSpPr/>
          <p:nvPr/>
        </p:nvSpPr>
        <p:spPr>
          <a:xfrm rot="0" flipH="false" flipV="false">
            <a:off x="762000" y="2692400"/>
            <a:ext cx="10668000" cy="787400"/>
          </a:xfrm>
          <a:prstGeom prst="roundRect">
            <a:avLst>
              <a:gd name="adj" fmla="val 0"/>
            </a:avLst>
          </a:prstGeom>
          <a:solidFill>
            <a:srgbClr val="FFFFFF">
              <a:alpha val="6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52500" y="2692400"/>
            <a:ext cx="1778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02 目的</a:t>
            </a:r>
            <a:endParaRPr lang="en-US" sz="1100"/>
          </a:p>
        </p:txBody>
      </p:sp>
      <p:cxnSp>
        <p:nvCxnSpPr>
          <p:cNvPr name="Connector 11" id="11"/>
          <p:cNvCxnSpPr/>
          <p:nvPr/>
        </p:nvCxnSpPr>
        <p:spPr>
          <a:xfrm rot="5309553" flipH="false" flipV="false">
            <a:off x="2552700" y="3079834"/>
            <a:ext cx="4826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12" id="12"/>
          <p:cNvSpPr/>
          <p:nvPr/>
        </p:nvSpPr>
        <p:spPr>
          <a:xfrm rot="0" flipH="false" flipV="false">
            <a:off x="2984500" y="26924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B5563"/>
                </a:solidFill>
                <a:latin typeface="Noto Sans SC"/>
                <a:ea typeface="Noto Sans SC"/>
                <a:cs typeface="Noto Sans SC"/>
                <a:sym typeface="Noto Sans SC"/>
              </a:rPr>
              <a:t>信息展示：</a:t>
            </a:r>
            <a:r>
              <a:rPr lang="en-US" b="false" i="false" strike="noStrike" u="none" sz="1300">
                <a:solidFill>
                  <a:srgbClr val="6B7280"/>
                </a:solidFill>
                <a:latin typeface="Noto Sans SC"/>
                <a:ea typeface="Noto Sans SC"/>
                <a:cs typeface="Noto Sans SC"/>
                <a:sym typeface="Noto Sans SC"/>
              </a:rPr>
              <a:t>罗列数据与文本，完成信息的单向传递与呈现。</a:t>
            </a:r>
            <a:endParaRPr lang="en-US" sz="1100"/>
          </a:p>
        </p:txBody>
      </p:sp>
      <p:sp>
        <p:nvSpPr>
          <p:cNvPr name="AutoShape 13" id="13"/>
          <p:cNvSpPr/>
          <p:nvPr/>
        </p:nvSpPr>
        <p:spPr>
          <a:xfrm rot="0" flipH="false" flipV="false">
            <a:off x="7112000" y="26924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2C55E"/>
                </a:solidFill>
                <a:latin typeface="Noto Sans SC"/>
                <a:ea typeface="Noto Sans SC"/>
                <a:cs typeface="Noto Sans SC"/>
                <a:sym typeface="Noto Sans SC"/>
              </a:rPr>
              <a:t>影响决策：</a:t>
            </a:r>
            <a:r>
              <a:rPr lang="en-US" b="false" i="false" strike="noStrike" u="none" sz="1300">
                <a:solidFill>
                  <a:srgbClr val="374151"/>
                </a:solidFill>
                <a:latin typeface="Noto Sans SC"/>
                <a:ea typeface="Noto Sans SC"/>
                <a:cs typeface="Noto Sans SC"/>
                <a:sym typeface="Noto Sans SC"/>
              </a:rPr>
              <a:t>通过有力论证与情感共鸣，推动受众做出行动或决策。</a:t>
            </a:r>
            <a:endParaRPr lang="en-US" sz="1100"/>
          </a:p>
        </p:txBody>
      </p:sp>
      <p:sp>
        <p:nvSpPr>
          <p:cNvPr name="AutoShape 14" id="14"/>
          <p:cNvSpPr/>
          <p:nvPr/>
        </p:nvSpPr>
        <p:spPr>
          <a:xfrm rot="0" flipH="false" flipV="false">
            <a:off x="762000" y="3606800"/>
            <a:ext cx="10668000" cy="787400"/>
          </a:xfrm>
          <a:prstGeom prst="roundRect">
            <a:avLst>
              <a:gd name="adj" fmla="val 0"/>
            </a:avLst>
          </a:prstGeom>
          <a:solidFill>
            <a:srgbClr val="FFFFFF">
              <a:alpha val="6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52500" y="3606800"/>
            <a:ext cx="1778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03 内容</a:t>
            </a:r>
            <a:endParaRPr lang="en-US" sz="1100"/>
          </a:p>
        </p:txBody>
      </p:sp>
      <p:cxnSp>
        <p:nvCxnSpPr>
          <p:cNvPr name="Connector 16" id="16"/>
          <p:cNvCxnSpPr/>
          <p:nvPr/>
        </p:nvCxnSpPr>
        <p:spPr>
          <a:xfrm rot="5309553" flipH="false" flipV="false">
            <a:off x="2552700" y="3994234"/>
            <a:ext cx="4826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17" id="17"/>
          <p:cNvSpPr/>
          <p:nvPr/>
        </p:nvSpPr>
        <p:spPr>
          <a:xfrm rot="0" flipH="false" flipV="false">
            <a:off x="2984500" y="36068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B5563"/>
                </a:solidFill>
                <a:latin typeface="Noto Sans SC"/>
                <a:ea typeface="Noto Sans SC"/>
                <a:cs typeface="Noto Sans SC"/>
                <a:sym typeface="Noto Sans SC"/>
              </a:rPr>
              <a:t>内容驱动：</a:t>
            </a:r>
            <a:r>
              <a:rPr lang="en-US" b="false" i="false" strike="noStrike" u="none" sz="1300">
                <a:solidFill>
                  <a:srgbClr val="6B7280"/>
                </a:solidFill>
                <a:latin typeface="Noto Sans SC"/>
                <a:ea typeface="Noto Sans SC"/>
                <a:cs typeface="Noto Sans SC"/>
                <a:sym typeface="Noto Sans SC"/>
              </a:rPr>
              <a:t>力求信息全面，堆砌细节，易导致内容臃肿繁杂。</a:t>
            </a:r>
            <a:endParaRPr lang="en-US" sz="1100"/>
          </a:p>
        </p:txBody>
      </p:sp>
      <p:sp>
        <p:nvSpPr>
          <p:cNvPr name="AutoShape 18" id="18"/>
          <p:cNvSpPr/>
          <p:nvPr/>
        </p:nvSpPr>
        <p:spPr>
          <a:xfrm rot="0" flipH="false" flipV="false">
            <a:off x="7112000" y="36068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2C55E"/>
                </a:solidFill>
                <a:latin typeface="Noto Sans SC"/>
                <a:ea typeface="Noto Sans SC"/>
                <a:cs typeface="Noto Sans SC"/>
                <a:sym typeface="Noto Sans SC"/>
              </a:rPr>
              <a:t>叙事驱动：</a:t>
            </a:r>
            <a:r>
              <a:rPr lang="en-US" b="false" i="false" strike="noStrike" u="none" sz="1300">
                <a:solidFill>
                  <a:srgbClr val="374151"/>
                </a:solidFill>
                <a:latin typeface="Noto Sans SC"/>
                <a:ea typeface="Noto Sans SC"/>
                <a:cs typeface="Noto Sans SC"/>
                <a:sym typeface="Noto Sans SC"/>
              </a:rPr>
              <a:t>围绕核心故事线取舍，只保留支撑观点的关键信息。</a:t>
            </a:r>
            <a:endParaRPr lang="en-US" sz="1100"/>
          </a:p>
        </p:txBody>
      </p:sp>
      <p:sp>
        <p:nvSpPr>
          <p:cNvPr name="AutoShape 19" id="19"/>
          <p:cNvSpPr/>
          <p:nvPr/>
        </p:nvSpPr>
        <p:spPr>
          <a:xfrm rot="0" flipH="false" flipV="false">
            <a:off x="762000" y="4521200"/>
            <a:ext cx="10668000" cy="787400"/>
          </a:xfrm>
          <a:prstGeom prst="roundRect">
            <a:avLst>
              <a:gd name="adj" fmla="val 0"/>
            </a:avLst>
          </a:prstGeom>
          <a:solidFill>
            <a:srgbClr val="FFFFFF">
              <a:alpha val="6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52500" y="4521200"/>
            <a:ext cx="1778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04 设计</a:t>
            </a:r>
            <a:endParaRPr lang="en-US" sz="1100"/>
          </a:p>
        </p:txBody>
      </p:sp>
      <p:cxnSp>
        <p:nvCxnSpPr>
          <p:cNvPr name="Connector 21" id="21"/>
          <p:cNvCxnSpPr/>
          <p:nvPr/>
        </p:nvCxnSpPr>
        <p:spPr>
          <a:xfrm rot="5309553" flipH="false" flipV="false">
            <a:off x="2552700" y="4908634"/>
            <a:ext cx="4826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22" id="22"/>
          <p:cNvSpPr/>
          <p:nvPr/>
        </p:nvSpPr>
        <p:spPr>
          <a:xfrm rot="0" flipH="false" flipV="false">
            <a:off x="2984500" y="45212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B5563"/>
                </a:solidFill>
                <a:latin typeface="Noto Sans SC"/>
                <a:ea typeface="Noto Sans SC"/>
                <a:cs typeface="Noto Sans SC"/>
                <a:sym typeface="Noto Sans SC"/>
              </a:rPr>
              <a:t>华丽繁复：</a:t>
            </a:r>
            <a:r>
              <a:rPr lang="en-US" b="false" i="false" strike="noStrike" u="none" sz="1300">
                <a:solidFill>
                  <a:srgbClr val="6B7280"/>
                </a:solidFill>
                <a:latin typeface="Noto Sans SC"/>
                <a:ea typeface="Noto Sans SC"/>
                <a:cs typeface="Noto Sans SC"/>
                <a:sym typeface="Noto Sans SC"/>
              </a:rPr>
              <a:t>过度使用动画、特效与装饰，易分散观众注意力。</a:t>
            </a:r>
            <a:endParaRPr lang="en-US" sz="1100"/>
          </a:p>
        </p:txBody>
      </p:sp>
      <p:sp>
        <p:nvSpPr>
          <p:cNvPr name="AutoShape 23" id="23"/>
          <p:cNvSpPr/>
          <p:nvPr/>
        </p:nvSpPr>
        <p:spPr>
          <a:xfrm rot="0" flipH="false" flipV="false">
            <a:off x="7112000" y="45212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2C55E"/>
                </a:solidFill>
                <a:latin typeface="Noto Sans SC"/>
                <a:ea typeface="Noto Sans SC"/>
                <a:cs typeface="Noto Sans SC"/>
                <a:sym typeface="Noto Sans SC"/>
              </a:rPr>
              <a:t>极致简洁：</a:t>
            </a:r>
            <a:r>
              <a:rPr lang="en-US" b="false" i="false" strike="noStrike" u="none" sz="1300">
                <a:solidFill>
                  <a:srgbClr val="374151"/>
                </a:solidFill>
                <a:latin typeface="Noto Sans SC"/>
                <a:ea typeface="Noto Sans SC"/>
                <a:cs typeface="Noto Sans SC"/>
                <a:sym typeface="Noto Sans SC"/>
              </a:rPr>
              <a:t>视觉层级清晰，去除冗余装饰，让信息本身成为主角。</a:t>
            </a:r>
            <a:endParaRPr lang="en-US" sz="1100"/>
          </a:p>
        </p:txBody>
      </p:sp>
      <p:sp>
        <p:nvSpPr>
          <p:cNvPr name="AutoShape 24" id="24"/>
          <p:cNvSpPr/>
          <p:nvPr/>
        </p:nvSpPr>
        <p:spPr>
          <a:xfrm rot="0" flipH="false" flipV="false">
            <a:off x="762000" y="5435600"/>
            <a:ext cx="10668000" cy="787400"/>
          </a:xfrm>
          <a:prstGeom prst="roundRect">
            <a:avLst>
              <a:gd name="adj" fmla="val 0"/>
            </a:avLst>
          </a:prstGeom>
          <a:solidFill>
            <a:srgbClr val="FFFFFF">
              <a:alpha val="6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52500" y="5435600"/>
            <a:ext cx="1778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C55E"/>
                </a:solidFill>
                <a:latin typeface="Noto Sans SC"/>
                <a:ea typeface="Noto Sans SC"/>
                <a:cs typeface="Noto Sans SC"/>
                <a:sym typeface="Noto Sans SC"/>
              </a:rPr>
              <a:t>05 表达</a:t>
            </a:r>
            <a:endParaRPr lang="en-US" sz="1100"/>
          </a:p>
        </p:txBody>
      </p:sp>
      <p:cxnSp>
        <p:nvCxnSpPr>
          <p:cNvPr name="Connector 26" id="26"/>
          <p:cNvCxnSpPr/>
          <p:nvPr/>
        </p:nvCxnSpPr>
        <p:spPr>
          <a:xfrm rot="5309553" flipH="false" flipV="false">
            <a:off x="2552700" y="5823034"/>
            <a:ext cx="4826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27" id="27"/>
          <p:cNvSpPr/>
          <p:nvPr/>
        </p:nvSpPr>
        <p:spPr>
          <a:xfrm rot="0" flipH="false" flipV="false">
            <a:off x="2984500" y="54356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4B5563"/>
                </a:solidFill>
                <a:latin typeface="Noto Sans SC"/>
                <a:ea typeface="Noto Sans SC"/>
                <a:cs typeface="Noto Sans SC"/>
                <a:sym typeface="Noto Sans SC"/>
              </a:rPr>
              <a:t>高密度堆砌：</a:t>
            </a:r>
            <a:r>
              <a:rPr lang="en-US" b="false" i="false" strike="noStrike" u="none" sz="1300">
                <a:solidFill>
                  <a:srgbClr val="6B7280"/>
                </a:solidFill>
                <a:latin typeface="Noto Sans SC"/>
                <a:ea typeface="Noto Sans SC"/>
                <a:cs typeface="Noto Sans SC"/>
                <a:sym typeface="Noto Sans SC"/>
              </a:rPr>
              <a:t>单页承载大量文字段落，观众阅读压力大，吸收效率低。</a:t>
            </a:r>
            <a:endParaRPr lang="en-US" sz="1100"/>
          </a:p>
        </p:txBody>
      </p:sp>
      <p:sp>
        <p:nvSpPr>
          <p:cNvPr name="AutoShape 28" id="28"/>
          <p:cNvSpPr/>
          <p:nvPr/>
        </p:nvSpPr>
        <p:spPr>
          <a:xfrm rot="0" flipH="false" flipV="false">
            <a:off x="7112000" y="5435600"/>
            <a:ext cx="393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22C55E"/>
                </a:solidFill>
                <a:latin typeface="Noto Sans SC"/>
                <a:ea typeface="Noto Sans SC"/>
                <a:cs typeface="Noto Sans SC"/>
                <a:sym typeface="Noto Sans SC"/>
              </a:rPr>
              <a:t>一页一议：</a:t>
            </a:r>
            <a:r>
              <a:rPr lang="en-US" b="false" i="false" strike="noStrike" u="none" sz="1300">
                <a:solidFill>
                  <a:srgbClr val="374151"/>
                </a:solidFill>
                <a:latin typeface="Noto Sans SC"/>
                <a:ea typeface="Noto Sans SC"/>
                <a:cs typeface="Noto Sans SC"/>
                <a:sym typeface="Noto Sans SC"/>
              </a:rPr>
              <a:t>单页仅传递一个核心观点，配合可视化，降低认知负荷。</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02 Deck vs. PPT</a:t>
            </a:r>
            <a:endParaRPr lang="en-US" sz="1100"/>
          </a:p>
        </p:txBody>
      </p:sp>
      <p:sp>
        <p:nvSpPr>
          <p:cNvPr name="AutoShape 4" id="4"/>
          <p:cNvSpPr/>
          <p:nvPr/>
        </p:nvSpPr>
        <p:spPr>
          <a:xfrm rot="0" flipH="false" flipV="false">
            <a:off x="762000" y="1524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B5563"/>
                </a:solidFill>
                <a:latin typeface="Noto Sans SC"/>
                <a:ea typeface="Noto Sans SC"/>
                <a:cs typeface="Noto Sans SC"/>
                <a:sym typeface="Noto Sans SC"/>
              </a:rPr>
              <a:t>紧密联系：Deck是PPT的“高级形态”</a:t>
            </a:r>
            <a:endParaRPr lang="en-US" sz="1100"/>
          </a:p>
        </p:txBody>
      </p:sp>
      <p:sp>
        <p:nvSpPr>
          <p:cNvPr name="AutoShape 5" id="5"/>
          <p:cNvSpPr/>
          <p:nvPr/>
        </p:nvSpPr>
        <p:spPr>
          <a:xfrm rot="0" flipH="false" flipV="false">
            <a:off x="762000" y="2413000"/>
            <a:ext cx="3378200" cy="2413000"/>
          </a:xfrm>
          <a:prstGeom prst="roundRect">
            <a:avLst>
              <a:gd name="adj" fmla="val 0"/>
            </a:avLst>
          </a:prstGeom>
          <a:solidFill>
            <a:srgbClr val="FFFFFF">
              <a:alpha val="50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667000"/>
            <a:ext cx="355600" cy="355600"/>
          </a:xfrm>
          <a:prstGeom prst="rect">
            <a:avLst/>
          </a:prstGeom>
        </p:spPr>
      </p:pic>
      <p:sp>
        <p:nvSpPr>
          <p:cNvPr name="AutoShape 7" id="7"/>
          <p:cNvSpPr/>
          <p:nvPr/>
        </p:nvSpPr>
        <p:spPr>
          <a:xfrm rot="0" flipH="false" flipV="false">
            <a:off x="1460500" y="2667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工具同源共生</a:t>
            </a:r>
            <a:endParaRPr lang="en-US" sz="1100"/>
          </a:p>
        </p:txBody>
      </p:sp>
      <p:sp>
        <p:nvSpPr>
          <p:cNvPr name="AutoShape 8" id="8"/>
          <p:cNvSpPr/>
          <p:nvPr/>
        </p:nvSpPr>
        <p:spPr>
          <a:xfrm rot="0" flipH="false" flipV="false">
            <a:off x="1016000" y="3238500"/>
            <a:ext cx="2870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Deck并非独立工具，而是依托PPT、Keynote等软件实现。PPT是将Deck的沟通理念与创意落地的载体，为内容的视觉化呈现提供技术支撑。</a:t>
            </a:r>
            <a:endParaRPr lang="en-US" sz="1100"/>
          </a:p>
        </p:txBody>
      </p:sp>
      <p:sp>
        <p:nvSpPr>
          <p:cNvPr name="AutoShape 9" id="9"/>
          <p:cNvSpPr/>
          <p:nvPr/>
        </p:nvSpPr>
        <p:spPr>
          <a:xfrm rot="0" flipH="false" flipV="false">
            <a:off x="4406900" y="2413000"/>
            <a:ext cx="3378200" cy="2413000"/>
          </a:xfrm>
          <a:prstGeom prst="roundRect">
            <a:avLst>
              <a:gd name="adj" fmla="val 0"/>
            </a:avLst>
          </a:prstGeom>
          <a:solidFill>
            <a:srgbClr val="FFFFFF">
              <a:alpha val="50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2667000"/>
            <a:ext cx="355600" cy="355600"/>
          </a:xfrm>
          <a:prstGeom prst="rect">
            <a:avLst/>
          </a:prstGeom>
        </p:spPr>
      </p:pic>
      <p:sp>
        <p:nvSpPr>
          <p:cNvPr name="AutoShape 11" id="11"/>
          <p:cNvSpPr/>
          <p:nvPr/>
        </p:nvSpPr>
        <p:spPr>
          <a:xfrm rot="0" flipH="false" flipV="false">
            <a:off x="5105400" y="2667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内容源于业务</a:t>
            </a:r>
            <a:endParaRPr lang="en-US" sz="1100"/>
          </a:p>
        </p:txBody>
      </p:sp>
      <p:sp>
        <p:nvSpPr>
          <p:cNvPr name="AutoShape 12" id="12"/>
          <p:cNvSpPr/>
          <p:nvPr/>
        </p:nvSpPr>
        <p:spPr>
          <a:xfrm rot="0" flipH="false" flipV="false">
            <a:off x="4660900" y="3238500"/>
            <a:ext cx="2870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Deck的核心素材根植于严谨的商业文档、数据与逻辑。它利用PPT的可视化能力，将枯燥的信息转化为结构化、场景化的视觉语言，让数据与观点更易被感知。</a:t>
            </a:r>
            <a:endParaRPr lang="en-US" sz="1100"/>
          </a:p>
        </p:txBody>
      </p:sp>
      <p:sp>
        <p:nvSpPr>
          <p:cNvPr name="AutoShape 13" id="13"/>
          <p:cNvSpPr/>
          <p:nvPr/>
        </p:nvSpPr>
        <p:spPr>
          <a:xfrm rot="0" flipH="false" flipV="false">
            <a:off x="8051800" y="2413000"/>
            <a:ext cx="3378200" cy="2413000"/>
          </a:xfrm>
          <a:prstGeom prst="roundRect">
            <a:avLst>
              <a:gd name="adj" fmla="val 0"/>
            </a:avLst>
          </a:prstGeom>
          <a:solidFill>
            <a:srgbClr val="FFFFFF">
              <a:alpha val="50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2667000"/>
            <a:ext cx="355600" cy="355600"/>
          </a:xfrm>
          <a:prstGeom prst="rect">
            <a:avLst/>
          </a:prstGeom>
        </p:spPr>
      </p:pic>
      <p:sp>
        <p:nvSpPr>
          <p:cNvPr name="AutoShape 15" id="15"/>
          <p:cNvSpPr/>
          <p:nvPr/>
        </p:nvSpPr>
        <p:spPr>
          <a:xfrm rot="0" flipH="false" flipV="false">
            <a:off x="8750300" y="2667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理念迭代升级</a:t>
            </a:r>
            <a:endParaRPr lang="en-US" sz="1100"/>
          </a:p>
        </p:txBody>
      </p:sp>
      <p:sp>
        <p:nvSpPr>
          <p:cNvPr name="AutoShape 16" id="16"/>
          <p:cNvSpPr/>
          <p:nvPr/>
        </p:nvSpPr>
        <p:spPr>
          <a:xfrm rot="0" flipH="false" flipV="false">
            <a:off x="8305800" y="3238500"/>
            <a:ext cx="2870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Deck是对传统PPT“信息堆砌”的反思与进化。它摒弃冗余装饰，以“沟通效率”和“说服力”为核心，实现从单纯的“信息展示”向“价值传递与决策影响”的质变。</a:t>
            </a:r>
            <a:endParaRPr lang="en-US" sz="1100"/>
          </a:p>
        </p:txBody>
      </p:sp>
      <p:sp>
        <p:nvSpPr>
          <p:cNvPr name="AutoShape 17" id="17"/>
          <p:cNvSpPr/>
          <p:nvPr/>
        </p:nvSpPr>
        <p:spPr>
          <a:xfrm rot="0" flipH="false" flipV="false">
            <a:off x="762000" y="5080000"/>
            <a:ext cx="10668000" cy="1143000"/>
          </a:xfrm>
          <a:prstGeom prst="roundRect">
            <a:avLst>
              <a:gd name="adj" fmla="val 0"/>
            </a:avLst>
          </a:prstGeom>
          <a:solidFill>
            <a:srgbClr val="22C55E">
              <a:alpha val="8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5080000"/>
            <a:ext cx="50800" cy="11430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16000" y="52324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核心认知：</a:t>
            </a:r>
            <a:r>
              <a:rPr lang="en-US" b="false" i="false" strike="noStrike" u="none" sz="1500">
                <a:solidFill>
                  <a:srgbClr val="1F2937"/>
                </a:solidFill>
                <a:latin typeface="Noto Sans SC"/>
                <a:ea typeface="Noto Sans SC"/>
                <a:cs typeface="Noto Sans SC"/>
                <a:sym typeface="Noto Sans SC"/>
              </a:rPr>
              <a:t>所有Deck都属于PPT，但并非所有PPT都是Deck。Deck是一种更具</a:t>
            </a:r>
            <a:r>
              <a:rPr lang="en-US" b="true" i="false" strike="noStrike" u="none" sz="1500">
                <a:solidFill>
                  <a:srgbClr val="1F2937"/>
                </a:solidFill>
                <a:latin typeface="Noto Sans SC"/>
                <a:ea typeface="Noto Sans SC"/>
                <a:cs typeface="Noto Sans SC"/>
                <a:sym typeface="Noto Sans SC"/>
              </a:rPr>
              <a:t>战略思维</a:t>
            </a:r>
            <a:r>
              <a:rPr lang="en-US" b="false" i="false" strike="noStrike" u="none" sz="1500">
                <a:solidFill>
                  <a:srgbClr val="1F2937"/>
                </a:solidFill>
                <a:latin typeface="Noto Sans SC"/>
                <a:ea typeface="Noto Sans SC"/>
                <a:cs typeface="Noto Sans SC"/>
                <a:sym typeface="Noto Sans SC"/>
              </a:rPr>
              <a:t>、更强调</a:t>
            </a:r>
            <a:r>
              <a:rPr lang="en-US" b="true" i="false" strike="noStrike" u="none" sz="1500">
                <a:solidFill>
                  <a:srgbClr val="1F2937"/>
                </a:solidFill>
                <a:latin typeface="Noto Sans SC"/>
                <a:ea typeface="Noto Sans SC"/>
                <a:cs typeface="Noto Sans SC"/>
                <a:sym typeface="Noto Sans SC"/>
              </a:rPr>
              <a:t>沟通效果</a:t>
            </a:r>
            <a:r>
              <a:rPr lang="en-US" b="false" i="false" strike="noStrike" u="none" sz="1500">
                <a:solidFill>
                  <a:srgbClr val="1F2937"/>
                </a:solidFill>
                <a:latin typeface="Noto Sans SC"/>
                <a:ea typeface="Noto Sans SC"/>
                <a:cs typeface="Noto Sans SC"/>
                <a:sym typeface="Noto Sans SC"/>
              </a:rPr>
              <a:t>的创作范式，其本质是“为影响他人决策而设计的视觉沟通方案”。</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03 常见的Deck类型</a:t>
            </a:r>
            <a:endParaRPr lang="en-US" sz="1100"/>
          </a:p>
        </p:txBody>
      </p:sp>
      <p:sp>
        <p:nvSpPr>
          <p:cNvPr name="AutoShape 4" id="4"/>
          <p:cNvSpPr/>
          <p:nvPr/>
        </p:nvSpPr>
        <p:spPr>
          <a:xfrm rot="0" flipH="false" flipV="false">
            <a:off x="762000" y="1651000"/>
            <a:ext cx="558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Pitch Deck (融资演示Deck)</a:t>
            </a:r>
            <a:endParaRPr lang="en-US" sz="1100"/>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2438400"/>
            <a:ext cx="279400" cy="279400"/>
          </a:xfrm>
          <a:prstGeom prst="rect">
            <a:avLst/>
          </a:prstGeom>
        </p:spPr>
      </p:pic>
      <p:sp>
        <p:nvSpPr>
          <p:cNvPr name="AutoShape 6" id="6"/>
          <p:cNvSpPr/>
          <p:nvPr/>
        </p:nvSpPr>
        <p:spPr>
          <a:xfrm rot="0" flipH="false" flipV="false">
            <a:off x="1168400" y="2413000"/>
            <a:ext cx="5270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151"/>
                </a:solidFill>
                <a:latin typeface="Noto Sans SC"/>
                <a:ea typeface="Noto Sans SC"/>
                <a:cs typeface="Noto Sans SC"/>
                <a:sym typeface="Noto Sans SC"/>
              </a:rPr>
              <a:t>核心定义：</a:t>
            </a:r>
            <a:r>
              <a:rPr lang="en-US" b="false" i="false" strike="noStrike" u="none" sz="1400">
                <a:solidFill>
                  <a:srgbClr val="4B5563"/>
                </a:solidFill>
                <a:latin typeface="Noto Sans SC"/>
                <a:ea typeface="Noto Sans SC"/>
                <a:cs typeface="Noto Sans SC"/>
                <a:sym typeface="Noto Sans SC"/>
              </a:rPr>
              <a:t>初创企业向投资人展示商业愿景、团队实力与市场潜力的核心沟通载体，是开启融资对话的关键“敲门砖”。</a:t>
            </a:r>
            <a:endParaRPr lang="en-US" sz="1100"/>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3327400"/>
            <a:ext cx="279400" cy="279400"/>
          </a:xfrm>
          <a:prstGeom prst="rect">
            <a:avLst/>
          </a:prstGeom>
        </p:spPr>
      </p:pic>
      <p:sp>
        <p:nvSpPr>
          <p:cNvPr name="AutoShape 8" id="8"/>
          <p:cNvSpPr/>
          <p:nvPr/>
        </p:nvSpPr>
        <p:spPr>
          <a:xfrm rot="0" flipH="false" flipV="false">
            <a:off x="1168400" y="3302000"/>
            <a:ext cx="5270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151"/>
                </a:solidFill>
                <a:latin typeface="Noto Sans SC"/>
                <a:ea typeface="Noto Sans SC"/>
                <a:cs typeface="Noto Sans SC"/>
                <a:sym typeface="Noto Sans SC"/>
              </a:rPr>
              <a:t>核心目的：</a:t>
            </a:r>
            <a:r>
              <a:rPr lang="en-US" b="false" i="false" strike="noStrike" u="none" sz="1400">
                <a:solidFill>
                  <a:srgbClr val="4B5563"/>
                </a:solidFill>
                <a:latin typeface="Noto Sans SC"/>
                <a:ea typeface="Noto Sans SC"/>
                <a:cs typeface="Noto Sans SC"/>
                <a:sym typeface="Noto Sans SC"/>
              </a:rPr>
              <a:t>高效传递创业价值，建立信任并说服投资者提供资金支持，最终促成融资意向的达成与合作。</a:t>
            </a:r>
            <a:endParaRPr lang="en-US" sz="1100"/>
          </a:p>
        </p:txBody>
      </p:sp>
      <p:pic>
        <p:nvPicPr>
          <p:cNvPr name="Picture 9" id="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62000" y="4216400"/>
            <a:ext cx="279400" cy="279400"/>
          </a:xfrm>
          <a:prstGeom prst="rect">
            <a:avLst/>
          </a:prstGeom>
        </p:spPr>
      </p:pic>
      <p:sp>
        <p:nvSpPr>
          <p:cNvPr name="AutoShape 10" id="10"/>
          <p:cNvSpPr/>
          <p:nvPr/>
        </p:nvSpPr>
        <p:spPr>
          <a:xfrm rot="0" flipH="false" flipV="false">
            <a:off x="1168400" y="4191000"/>
            <a:ext cx="5270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151"/>
                </a:solidFill>
                <a:latin typeface="Noto Sans SC"/>
                <a:ea typeface="Noto Sans SC"/>
                <a:cs typeface="Noto Sans SC"/>
                <a:sym typeface="Noto Sans SC"/>
              </a:rPr>
              <a:t>经典叙事结构：</a:t>
            </a:r>
            <a:r>
              <a:rPr lang="en-US" b="false" i="false" strike="noStrike" u="none" sz="1400">
                <a:solidFill>
                  <a:srgbClr val="4B5563"/>
                </a:solidFill>
                <a:latin typeface="Noto Sans SC"/>
                <a:ea typeface="Noto Sans SC"/>
                <a:cs typeface="Noto Sans SC"/>
                <a:sym typeface="Noto Sans SC"/>
              </a:rPr>
              <a:t>问题痛点 → 解决方案 → 市场规模 → 商业模式 → 竞争壁垒 → 核心团队 → 融资需求与资金用途。</a:t>
            </a:r>
            <a:endParaRPr lang="en-US" sz="1100"/>
          </a:p>
        </p:txBody>
      </p:sp>
      <p:sp>
        <p:nvSpPr>
          <p:cNvPr name="AutoShape 11" id="11"/>
          <p:cNvSpPr/>
          <p:nvPr/>
        </p:nvSpPr>
        <p:spPr>
          <a:xfrm rot="0" flipH="false" flipV="false">
            <a:off x="762000" y="5397500"/>
            <a:ext cx="5588000" cy="952500"/>
          </a:xfrm>
          <a:prstGeom prst="roundRect">
            <a:avLst>
              <a:gd name="adj" fmla="val 0"/>
            </a:avLst>
          </a:prstGeom>
          <a:solidFill>
            <a:srgbClr val="22C55E">
              <a:alpha val="10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52500" y="5524500"/>
            <a:ext cx="5270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15803D"/>
                </a:solidFill>
                <a:latin typeface="Noto Sans SC"/>
                <a:ea typeface="Noto Sans SC"/>
                <a:cs typeface="Noto Sans SC"/>
                <a:sym typeface="Noto Sans SC"/>
              </a:rPr>
              <a:t>✦ 标杆案例：Airbnb (2009)</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仅凭14页极简Deck斩获60万美元种子轮投资，其成功核心在于直击住宿痛点的清晰陈述与简单有力的解决方案展示。</a:t>
            </a:r>
            <a:endParaRPr lang="en-US" sz="1100"/>
          </a:p>
        </p:txBody>
      </p:sp>
      <p:pic>
        <p:nvPicPr>
          <p:cNvPr name="Picture 13" id="13"/>
          <p:cNvPicPr>
            <a:picLocks noChangeAspect="true"/>
          </p:cNvPicPr>
          <p:nvPr/>
        </p:nvPicPr>
        <p:blipFill>
          <a:blip r:embed="rId9"/>
          <a:srcRect l="0" r="0" t="3254" b="3254"/>
          <a:stretch>
            <a:fillRect/>
          </a:stretch>
        </p:blipFill>
        <p:spPr>
          <a:xfrm rot="0" flipH="false" flipV="false">
            <a:off x="6604000" y="1968500"/>
            <a:ext cx="4826000" cy="3175000"/>
          </a:xfrm>
          <a:prstGeom prst="roundRect">
            <a:avLst>
              <a:gd name="adj" fmla="val 4800"/>
            </a:avLst>
          </a:prstGeom>
          <a:noFill/>
          <a:ln w="25400" cmpd="sng" cap="flat">
            <a:noFill/>
            <a:prstDash val="solid"/>
            <a:round/>
          </a:ln>
          <a:effectLst>
            <a:outerShdw dir="2700000" dist="50800" blurRad="152400" algn="tl" rotWithShape="false">
              <a:srgbClr val="000000">
                <a:alpha val="10000"/>
              </a:srgbClr>
            </a:outerShdw>
          </a:effectLst>
        </p:spPr>
      </p:pic>
      <p:sp>
        <p:nvSpPr>
          <p:cNvPr name="AutoShape 14" id="14"/>
          <p:cNvSpPr/>
          <p:nvPr/>
        </p:nvSpPr>
        <p:spPr>
          <a:xfrm rot="0" flipH="false" flipV="false">
            <a:off x="6604000" y="5334000"/>
            <a:ext cx="4826000" cy="10795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794500" y="5461000"/>
            <a:ext cx="4572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true" strike="noStrike" u="none" sz="1400">
                <a:solidFill>
                  <a:srgbClr val="374151"/>
                </a:solidFill>
                <a:latin typeface="Noto Sans SC"/>
                <a:ea typeface="Noto Sans SC"/>
                <a:cs typeface="Noto Sans SC"/>
                <a:sym typeface="Noto Sans SC"/>
              </a:rPr>
              <a:t>“Pitch Deck不是一份枯燥的商业计划书，而是一场浓缩的、关于未来的路演。它的每一页都应服务于‘让投资者说YES’这一终极目标。”</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03 常见的Deck类型</a:t>
            </a:r>
            <a:endParaRPr lang="en-US" sz="1100"/>
          </a:p>
        </p:txBody>
      </p:sp>
      <p:pic>
        <p:nvPicPr>
          <p:cNvPr name="Picture 4" id="4"/>
          <p:cNvPicPr>
            <a:picLocks noChangeAspect="true"/>
          </p:cNvPicPr>
          <p:nvPr/>
        </p:nvPicPr>
        <p:blipFill>
          <a:blip r:embed="rId3"/>
          <a:srcRect l="104" r="104" t="0" b="0"/>
          <a:stretch>
            <a:fillRect/>
          </a:stretch>
        </p:blipFill>
        <p:spPr>
          <a:xfrm rot="0" flipH="false" flipV="false">
            <a:off x="762000" y="1778000"/>
            <a:ext cx="4318000" cy="2882900"/>
          </a:xfrm>
          <a:prstGeom prst="roundRect">
            <a:avLst>
              <a:gd name="adj" fmla="val 5286"/>
            </a:avLst>
          </a:prstGeom>
          <a:noFill/>
          <a:ln w="25400" cmpd="sng" cap="flat">
            <a:noFill/>
            <a:prstDash val="solid"/>
            <a:round/>
          </a:ln>
          <a:effectLst>
            <a:outerShdw dir="2700000" dist="50800" blurRad="127000" algn="tl" rotWithShape="false">
              <a:srgbClr val="000000">
                <a:alpha val="10000"/>
              </a:srgbClr>
            </a:outerShdw>
          </a:effectLst>
        </p:spPr>
      </p:pic>
      <p:sp>
        <p:nvSpPr>
          <p:cNvPr name="AutoShape 5" id="5"/>
          <p:cNvSpPr/>
          <p:nvPr/>
        </p:nvSpPr>
        <p:spPr>
          <a:xfrm rot="0" flipH="false" flipV="false">
            <a:off x="5588000" y="1778000"/>
            <a:ext cx="609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2C55E"/>
                </a:solidFill>
                <a:latin typeface="Noto Sans SC"/>
                <a:ea typeface="Noto Sans SC"/>
                <a:cs typeface="Noto Sans SC"/>
                <a:sym typeface="Noto Sans SC"/>
              </a:rPr>
              <a:t>Sales Deck · 驱动交易的销售利器</a:t>
            </a:r>
            <a:endParaRPr lang="en-US" sz="1100"/>
          </a:p>
        </p:txBody>
      </p:sp>
      <p:sp>
        <p:nvSpPr>
          <p:cNvPr name="AutoShape 6" id="6"/>
          <p:cNvSpPr/>
          <p:nvPr/>
        </p:nvSpPr>
        <p:spPr>
          <a:xfrm rot="0" flipH="false" flipV="false">
            <a:off x="5588000" y="2540000"/>
            <a:ext cx="2857500" cy="1206500"/>
          </a:xfrm>
          <a:prstGeom prst="roundRect">
            <a:avLst>
              <a:gd name="adj" fmla="val 0"/>
            </a:avLst>
          </a:prstGeom>
          <a:solidFill>
            <a:srgbClr val="FFFFFF">
              <a:alpha val="5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40400" y="2692400"/>
            <a:ext cx="304800" cy="304800"/>
          </a:xfrm>
          <a:prstGeom prst="rect">
            <a:avLst/>
          </a:prstGeom>
        </p:spPr>
      </p:pic>
      <p:sp>
        <p:nvSpPr>
          <p:cNvPr name="AutoShape 8" id="8"/>
          <p:cNvSpPr/>
          <p:nvPr/>
        </p:nvSpPr>
        <p:spPr>
          <a:xfrm rot="0" flipH="false" flipV="false">
            <a:off x="6121400" y="26924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核心定义</a:t>
            </a:r>
            <a:endParaRPr lang="en-US" sz="1100"/>
          </a:p>
        </p:txBody>
      </p:sp>
      <p:sp>
        <p:nvSpPr>
          <p:cNvPr name="AutoShape 9" id="9"/>
          <p:cNvSpPr/>
          <p:nvPr/>
        </p:nvSpPr>
        <p:spPr>
          <a:xfrm rot="0" flipH="false" flipV="false">
            <a:off x="5740400" y="3073400"/>
            <a:ext cx="2603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传递产品价值、建立信任并展示解决方案的核心工具，是连接潜在客户与成交的桥梁。</a:t>
            </a:r>
            <a:endParaRPr lang="en-US" sz="1100"/>
          </a:p>
        </p:txBody>
      </p:sp>
      <p:sp>
        <p:nvSpPr>
          <p:cNvPr name="AutoShape 10" id="10"/>
          <p:cNvSpPr/>
          <p:nvPr/>
        </p:nvSpPr>
        <p:spPr>
          <a:xfrm rot="0" flipH="false" flipV="false">
            <a:off x="8636000" y="2540000"/>
            <a:ext cx="2857500" cy="1206500"/>
          </a:xfrm>
          <a:prstGeom prst="roundRect">
            <a:avLst>
              <a:gd name="adj" fmla="val 0"/>
            </a:avLst>
          </a:prstGeom>
          <a:solidFill>
            <a:srgbClr val="FFFFFF">
              <a:alpha val="5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788400" y="2692400"/>
            <a:ext cx="304800" cy="304800"/>
          </a:xfrm>
          <a:prstGeom prst="rect">
            <a:avLst/>
          </a:prstGeom>
        </p:spPr>
      </p:pic>
      <p:sp>
        <p:nvSpPr>
          <p:cNvPr name="AutoShape 12" id="12"/>
          <p:cNvSpPr/>
          <p:nvPr/>
        </p:nvSpPr>
        <p:spPr>
          <a:xfrm rot="0" flipH="false" flipV="false">
            <a:off x="9169400" y="26924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终极目标</a:t>
            </a:r>
            <a:endParaRPr lang="en-US" sz="1100"/>
          </a:p>
        </p:txBody>
      </p:sp>
      <p:sp>
        <p:nvSpPr>
          <p:cNvPr name="AutoShape 13" id="13"/>
          <p:cNvSpPr/>
          <p:nvPr/>
        </p:nvSpPr>
        <p:spPr>
          <a:xfrm rot="0" flipH="false" flipV="false">
            <a:off x="8788400" y="3073400"/>
            <a:ext cx="2603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精准匹配客户业务需求，消除决策顾虑，推动销售进程，最终实现订单转化与签约。</a:t>
            </a:r>
            <a:endParaRPr lang="en-US" sz="1100"/>
          </a:p>
        </p:txBody>
      </p:sp>
      <p:sp>
        <p:nvSpPr>
          <p:cNvPr name="AutoShape 14" id="14"/>
          <p:cNvSpPr/>
          <p:nvPr/>
        </p:nvSpPr>
        <p:spPr>
          <a:xfrm rot="0" flipH="false" flipV="false">
            <a:off x="5588000" y="3873500"/>
            <a:ext cx="2857500" cy="1206500"/>
          </a:xfrm>
          <a:prstGeom prst="roundRect">
            <a:avLst>
              <a:gd name="adj" fmla="val 0"/>
            </a:avLst>
          </a:prstGeom>
          <a:solidFill>
            <a:srgbClr val="FFFFFF">
              <a:alpha val="5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740400" y="4025900"/>
            <a:ext cx="304800" cy="304800"/>
          </a:xfrm>
          <a:prstGeom prst="rect">
            <a:avLst/>
          </a:prstGeom>
        </p:spPr>
      </p:pic>
      <p:sp>
        <p:nvSpPr>
          <p:cNvPr name="AutoShape 16" id="16"/>
          <p:cNvSpPr/>
          <p:nvPr/>
        </p:nvSpPr>
        <p:spPr>
          <a:xfrm rot="0" flipH="false" flipV="false">
            <a:off x="6121400" y="40259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标准结构</a:t>
            </a:r>
            <a:endParaRPr lang="en-US" sz="1100"/>
          </a:p>
        </p:txBody>
      </p:sp>
      <p:sp>
        <p:nvSpPr>
          <p:cNvPr name="AutoShape 17" id="17"/>
          <p:cNvSpPr/>
          <p:nvPr/>
        </p:nvSpPr>
        <p:spPr>
          <a:xfrm rot="0" flipH="false" flipV="false">
            <a:off x="5740400" y="4406900"/>
            <a:ext cx="2603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痛点直击 → 方案呈现 → 价值验证 → 成功案例 → 报价体系 → 下一步行动号召。</a:t>
            </a:r>
            <a:endParaRPr lang="en-US" sz="1100"/>
          </a:p>
        </p:txBody>
      </p:sp>
      <p:sp>
        <p:nvSpPr>
          <p:cNvPr name="AutoShape 18" id="18"/>
          <p:cNvSpPr/>
          <p:nvPr/>
        </p:nvSpPr>
        <p:spPr>
          <a:xfrm rot="0" flipH="false" flipV="false">
            <a:off x="8636000" y="3873500"/>
            <a:ext cx="2857500" cy="1206500"/>
          </a:xfrm>
          <a:prstGeom prst="roundRect">
            <a:avLst>
              <a:gd name="adj" fmla="val 0"/>
            </a:avLst>
          </a:prstGeom>
          <a:solidFill>
            <a:srgbClr val="FFFFFF">
              <a:alpha val="5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788400" y="4025900"/>
            <a:ext cx="304800" cy="304800"/>
          </a:xfrm>
          <a:prstGeom prst="rect">
            <a:avLst/>
          </a:prstGeom>
        </p:spPr>
      </p:pic>
      <p:sp>
        <p:nvSpPr>
          <p:cNvPr name="AutoShape 20" id="20"/>
          <p:cNvSpPr/>
          <p:nvPr/>
        </p:nvSpPr>
        <p:spPr>
          <a:xfrm rot="0" flipH="false" flipV="false">
            <a:off x="9169400" y="40259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04 制胜关键</a:t>
            </a:r>
            <a:endParaRPr lang="en-US" sz="1100"/>
          </a:p>
        </p:txBody>
      </p:sp>
      <p:sp>
        <p:nvSpPr>
          <p:cNvPr name="AutoShape 21" id="21"/>
          <p:cNvSpPr/>
          <p:nvPr/>
        </p:nvSpPr>
        <p:spPr>
          <a:xfrm rot="0" flipH="false" flipV="false">
            <a:off x="8788400" y="4406900"/>
            <a:ext cx="2603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坚持“以客户为中心”，用真实数据、客户证言与可量化的ROI分析构建无可辩驳的说服力。</a:t>
            </a:r>
            <a:endParaRPr lang="en-US" sz="1100"/>
          </a:p>
        </p:txBody>
      </p:sp>
      <p:sp>
        <p:nvSpPr>
          <p:cNvPr name="AutoShape 22" id="22"/>
          <p:cNvSpPr/>
          <p:nvPr/>
        </p:nvSpPr>
        <p:spPr>
          <a:xfrm rot="0" flipH="false" flipV="false">
            <a:off x="762000" y="5270500"/>
            <a:ext cx="10668000" cy="10795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62000" y="5270500"/>
            <a:ext cx="50800" cy="10795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1016000" y="5359400"/>
            <a:ext cx="1028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F2937"/>
                </a:solidFill>
                <a:latin typeface="Noto Sans SC"/>
                <a:ea typeface="Noto Sans SC"/>
                <a:cs typeface="Noto Sans SC"/>
                <a:sym typeface="Noto Sans SC"/>
              </a:rPr>
              <a:t>💡 标杆案例：Slack Sales Deck</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通过突出展示产品高达</a:t>
            </a:r>
            <a:r>
              <a:rPr lang="en-US" b="true" i="false" strike="noStrike" u="none" sz="1400">
                <a:solidFill>
                  <a:srgbClr val="22C55E"/>
                </a:solidFill>
                <a:latin typeface="Noto Sans SC"/>
                <a:ea typeface="Noto Sans SC"/>
                <a:cs typeface="Noto Sans SC"/>
                <a:sym typeface="Noto Sans SC"/>
              </a:rPr>
              <a:t>93% 的日活跃用户率 (DAU)</a:t>
            </a:r>
            <a:r>
              <a:rPr lang="en-US" b="false" i="false" strike="noStrike" u="none" sz="1300">
                <a:solidFill>
                  <a:srgbClr val="4B5563"/>
                </a:solidFill>
                <a:latin typeface="Noto Sans SC"/>
                <a:ea typeface="Noto Sans SC"/>
                <a:cs typeface="Noto Sans SC"/>
                <a:sym typeface="Noto Sans SC"/>
              </a:rPr>
              <a:t>，用极具冲击力的数据直观证明产品的粘性与价值，用事实而非空洞的口号说服企业客户，成为其B2B销售增长的强力助推器。</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03 常见的Deck类型</a:t>
            </a:r>
            <a:endParaRPr lang="en-US" sz="1100"/>
          </a:p>
        </p:txBody>
      </p:sp>
      <p:sp>
        <p:nvSpPr>
          <p:cNvPr name="AutoShape 4" id="4"/>
          <p:cNvSpPr/>
          <p:nvPr/>
        </p:nvSpPr>
        <p:spPr>
          <a:xfrm rot="0" flipH="false" flipV="false">
            <a:off x="762000" y="1905000"/>
            <a:ext cx="3378200" cy="2984500"/>
          </a:xfrm>
          <a:prstGeom prst="roundRect">
            <a:avLst>
              <a:gd name="adj" fmla="val 0"/>
            </a:avLst>
          </a:prstGeom>
          <a:solidFill>
            <a:srgbClr val="FFFFFF">
              <a:alpha val="6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22500"/>
            <a:ext cx="406400" cy="406400"/>
          </a:xfrm>
          <a:prstGeom prst="rect">
            <a:avLst/>
          </a:prstGeom>
        </p:spPr>
      </p:pic>
      <p:sp>
        <p:nvSpPr>
          <p:cNvPr name="AutoShape 6" id="6"/>
          <p:cNvSpPr/>
          <p:nvPr/>
        </p:nvSpPr>
        <p:spPr>
          <a:xfrm rot="0" flipH="false" flipV="false">
            <a:off x="1524000" y="2222500"/>
            <a:ext cx="2413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战略规划 Deck</a:t>
            </a:r>
            <a:endParaRPr lang="en-US" sz="1100"/>
          </a:p>
        </p:txBody>
      </p:sp>
      <p:cxnSp>
        <p:nvCxnSpPr>
          <p:cNvPr name="Connector 7" id="7"/>
          <p:cNvCxnSpPr/>
          <p:nvPr/>
        </p:nvCxnSpPr>
        <p:spPr>
          <a:xfrm rot="-15211" flipH="false" flipV="false">
            <a:off x="1016014" y="2851150"/>
            <a:ext cx="2870200" cy="12700"/>
          </a:xfrm>
          <a:prstGeom prst="straightConnector1">
            <a:avLst/>
          </a:prstGeom>
          <a:solidFill>
            <a:srgbClr val="DEE0E3">
              <a:alpha val="100000"/>
            </a:srgbClr>
          </a:solidFill>
          <a:ln w="12700" cmpd="sng" cap="flat">
            <a:solidFill>
              <a:srgbClr val="22C55E">
                <a:alpha val="20000"/>
              </a:srgbClr>
            </a:solidFill>
            <a:prstDash val="solid"/>
            <a:round/>
            <a:headEnd type="none" w="med" len="med"/>
            <a:tailEnd type="none" w="med" len="med"/>
          </a:ln>
        </p:spPr>
      </p:cxnSp>
      <p:sp>
        <p:nvSpPr>
          <p:cNvPr name="AutoShape 8" id="8"/>
          <p:cNvSpPr/>
          <p:nvPr/>
        </p:nvSpPr>
        <p:spPr>
          <a:xfrm rot="0" flipH="false" flipV="false">
            <a:off x="1016000" y="3048000"/>
            <a:ext cx="28702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面向内部团队与管理层，清晰阐述企业的长期战略方向、核心目标拆解及关键行动计划，帮助全员对齐愿景，确保执行步调一致。</a:t>
            </a:r>
            <a:endParaRPr lang="en-US" sz="1100"/>
          </a:p>
        </p:txBody>
      </p:sp>
      <p:sp>
        <p:nvSpPr>
          <p:cNvPr name="AutoShape 9" id="9"/>
          <p:cNvSpPr/>
          <p:nvPr/>
        </p:nvSpPr>
        <p:spPr>
          <a:xfrm rot="0" flipH="false" flipV="false">
            <a:off x="4394200" y="1905000"/>
            <a:ext cx="3378200" cy="2984500"/>
          </a:xfrm>
          <a:prstGeom prst="roundRect">
            <a:avLst>
              <a:gd name="adj" fmla="val 0"/>
            </a:avLst>
          </a:prstGeom>
          <a:solidFill>
            <a:srgbClr val="FFFFFF">
              <a:alpha val="6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2222500"/>
            <a:ext cx="406400" cy="406400"/>
          </a:xfrm>
          <a:prstGeom prst="rect">
            <a:avLst/>
          </a:prstGeom>
        </p:spPr>
      </p:pic>
      <p:sp>
        <p:nvSpPr>
          <p:cNvPr name="AutoShape 11" id="11"/>
          <p:cNvSpPr/>
          <p:nvPr/>
        </p:nvSpPr>
        <p:spPr>
          <a:xfrm rot="0" flipH="false" flipV="false">
            <a:off x="5156200" y="2222500"/>
            <a:ext cx="2413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进度同步 Deck</a:t>
            </a:r>
            <a:endParaRPr lang="en-US" sz="1100"/>
          </a:p>
        </p:txBody>
      </p:sp>
      <p:cxnSp>
        <p:nvCxnSpPr>
          <p:cNvPr name="Connector 12" id="12"/>
          <p:cNvCxnSpPr/>
          <p:nvPr/>
        </p:nvCxnSpPr>
        <p:spPr>
          <a:xfrm rot="-15211" flipH="false" flipV="false">
            <a:off x="4648214" y="2851150"/>
            <a:ext cx="2870200" cy="12700"/>
          </a:xfrm>
          <a:prstGeom prst="straightConnector1">
            <a:avLst/>
          </a:prstGeom>
          <a:solidFill>
            <a:srgbClr val="DEE0E3">
              <a:alpha val="100000"/>
            </a:srgbClr>
          </a:solidFill>
          <a:ln w="12700" cmpd="sng" cap="flat">
            <a:solidFill>
              <a:srgbClr val="22C55E">
                <a:alpha val="20000"/>
              </a:srgbClr>
            </a:solidFill>
            <a:prstDash val="solid"/>
            <a:round/>
            <a:headEnd type="none" w="med" len="med"/>
            <a:tailEnd type="none" w="med" len="med"/>
          </a:ln>
        </p:spPr>
      </p:cxnSp>
      <p:sp>
        <p:nvSpPr>
          <p:cNvPr name="AutoShape 13" id="13"/>
          <p:cNvSpPr/>
          <p:nvPr/>
        </p:nvSpPr>
        <p:spPr>
          <a:xfrm rot="0" flipH="false" flipV="false">
            <a:off x="4648200" y="3048000"/>
            <a:ext cx="28702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适用于周会、月度复盘或跨部门协同，极简呈现项目里程碑达成情况、当前风险与阻碍，以及下一阶段的重点任务，高效推进信息同步。</a:t>
            </a:r>
            <a:endParaRPr lang="en-US" sz="1100"/>
          </a:p>
        </p:txBody>
      </p:sp>
      <p:sp>
        <p:nvSpPr>
          <p:cNvPr name="AutoShape 14" id="14"/>
          <p:cNvSpPr/>
          <p:nvPr/>
        </p:nvSpPr>
        <p:spPr>
          <a:xfrm rot="0" flipH="false" flipV="false">
            <a:off x="8026400" y="1905000"/>
            <a:ext cx="3378200" cy="2984500"/>
          </a:xfrm>
          <a:prstGeom prst="roundRect">
            <a:avLst>
              <a:gd name="adj" fmla="val 0"/>
            </a:avLst>
          </a:prstGeom>
          <a:solidFill>
            <a:srgbClr val="FFFFFF">
              <a:alpha val="6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2222500"/>
            <a:ext cx="406400" cy="406400"/>
          </a:xfrm>
          <a:prstGeom prst="rect">
            <a:avLst/>
          </a:prstGeom>
        </p:spPr>
      </p:pic>
      <p:sp>
        <p:nvSpPr>
          <p:cNvPr name="AutoShape 16" id="16"/>
          <p:cNvSpPr/>
          <p:nvPr/>
        </p:nvSpPr>
        <p:spPr>
          <a:xfrm rot="0" flipH="false" flipV="false">
            <a:off x="8788400" y="2222500"/>
            <a:ext cx="2413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新品发布 Deck</a:t>
            </a:r>
            <a:endParaRPr lang="en-US" sz="1100"/>
          </a:p>
        </p:txBody>
      </p:sp>
      <p:cxnSp>
        <p:nvCxnSpPr>
          <p:cNvPr name="Connector 17" id="17"/>
          <p:cNvCxnSpPr/>
          <p:nvPr/>
        </p:nvCxnSpPr>
        <p:spPr>
          <a:xfrm rot="-15211" flipH="false" flipV="false">
            <a:off x="8280414" y="2851150"/>
            <a:ext cx="2870200" cy="12700"/>
          </a:xfrm>
          <a:prstGeom prst="straightConnector1">
            <a:avLst/>
          </a:prstGeom>
          <a:solidFill>
            <a:srgbClr val="DEE0E3">
              <a:alpha val="100000"/>
            </a:srgbClr>
          </a:solidFill>
          <a:ln w="12700" cmpd="sng" cap="flat">
            <a:solidFill>
              <a:srgbClr val="22C55E">
                <a:alpha val="20000"/>
              </a:srgbClr>
            </a:solidFill>
            <a:prstDash val="solid"/>
            <a:round/>
            <a:headEnd type="none" w="med" len="med"/>
            <a:tailEnd type="none" w="med" len="med"/>
          </a:ln>
        </p:spPr>
      </p:cxnSp>
      <p:sp>
        <p:nvSpPr>
          <p:cNvPr name="AutoShape 18" id="18"/>
          <p:cNvSpPr/>
          <p:nvPr/>
        </p:nvSpPr>
        <p:spPr>
          <a:xfrm rot="0" flipH="false" flipV="false">
            <a:off x="8280400" y="3048000"/>
            <a:ext cx="28702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面向市场、媒体与用户的对外发声窗口，聚焦产品核心创新、差异化价值与应用场景，通过视觉化表达强化记忆点，激发用户兴趣与转化。</a:t>
            </a:r>
            <a:endParaRPr lang="en-US" sz="1100"/>
          </a:p>
        </p:txBody>
      </p:sp>
      <p:sp>
        <p:nvSpPr>
          <p:cNvPr name="AutoShape 19" id="19"/>
          <p:cNvSpPr/>
          <p:nvPr/>
        </p:nvSpPr>
        <p:spPr>
          <a:xfrm rot="0" flipH="false" flipV="false">
            <a:off x="762000" y="5270500"/>
            <a:ext cx="10668000" cy="1016000"/>
          </a:xfrm>
          <a:prstGeom prst="roundRect">
            <a:avLst>
              <a:gd name="adj" fmla="val 0"/>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52500" y="5435600"/>
            <a:ext cx="1028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22C55E"/>
                </a:solidFill>
                <a:latin typeface="Noto Sans SC"/>
                <a:ea typeface="Noto Sans SC"/>
                <a:cs typeface="Noto Sans SC"/>
                <a:sym typeface="Noto Sans SC"/>
              </a:rPr>
              <a:t>💡 关键洞察：</a:t>
            </a:r>
            <a:r>
              <a:rPr lang="en-US" b="false" i="false" strike="noStrike" u="none" sz="1400">
                <a:solidFill>
                  <a:srgbClr val="374151"/>
                </a:solidFill>
                <a:latin typeface="Noto Sans SC"/>
                <a:ea typeface="Noto Sans SC"/>
                <a:cs typeface="Noto Sans SC"/>
                <a:sym typeface="Noto Sans SC"/>
              </a:rPr>
              <a:t>所有演示文稿的核心目标都是「降低沟通成本，精准传递价值」。根据受众身份与沟通目的来定制内容详略，是制作高效PPT的关键原则。</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04 制作优秀Deck的关键要素</a:t>
            </a:r>
            <a:endParaRPr lang="en-US" sz="1100"/>
          </a:p>
        </p:txBody>
      </p:sp>
      <p:sp>
        <p:nvSpPr>
          <p:cNvPr name="AutoShape 4" id="4"/>
          <p:cNvSpPr/>
          <p:nvPr/>
        </p:nvSpPr>
        <p:spPr>
          <a:xfrm rot="0" flipH="false" flipV="false">
            <a:off x="762000" y="1905000"/>
            <a:ext cx="3378200" cy="4191000"/>
          </a:xfrm>
          <a:prstGeom prst="roundRect">
            <a:avLst>
              <a:gd name="adj" fmla="val 0"/>
            </a:avLst>
          </a:prstGeom>
          <a:solidFill>
            <a:srgbClr val="FFFFFF">
              <a:alpha val="60000"/>
            </a:srgbClr>
          </a:solidFill>
          <a:ln w="12700" cmpd="sng" cap="flat">
            <a:solidFill>
              <a:srgbClr val="D1D5DB">
                <a:alpha val="7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222500"/>
            <a:ext cx="29972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C55E"/>
                </a:solidFill>
                <a:latin typeface="Noto Sans SC"/>
                <a:ea typeface="Noto Sans SC"/>
                <a:cs typeface="Noto Sans SC"/>
                <a:sym typeface="Noto Sans SC"/>
              </a:rPr>
              <a:t>01 策略先行</a:t>
            </a:r>
            <a:endParaRPr lang="en-US" sz="1100"/>
          </a:p>
        </p:txBody>
      </p:sp>
      <p:sp>
        <p:nvSpPr>
          <p:cNvPr name="AutoShape 6" id="6"/>
          <p:cNvSpPr/>
          <p:nvPr/>
        </p:nvSpPr>
        <p:spPr>
          <a:xfrm rot="0" flipH="false" flipV="false">
            <a:off x="952500" y="2730500"/>
            <a:ext cx="29972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明确目标与受众</a:t>
            </a:r>
            <a:endParaRPr lang="en-US" sz="1100"/>
          </a:p>
        </p:txBody>
      </p:sp>
      <p:sp>
        <p:nvSpPr>
          <p:cNvPr name="AutoShape 7" id="7"/>
          <p:cNvSpPr/>
          <p:nvPr/>
        </p:nvSpPr>
        <p:spPr>
          <a:xfrm rot="0" flipH="false" flipV="false">
            <a:off x="952500" y="3238500"/>
            <a:ext cx="2997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清晰定义期望观众做出的核心决策，精准锁定目标受众；深入洞察其背景、关切与潜在疑虑，让内容直击痛点，实现高效沟通。</a:t>
            </a:r>
            <a:endParaRPr lang="en-US" sz="1100"/>
          </a:p>
        </p:txBody>
      </p:sp>
      <p:pic>
        <p:nvPicPr>
          <p:cNvPr name="Picture 8" id="8"/>
          <p:cNvPicPr>
            <a:picLocks noChangeAspect="true"/>
          </p:cNvPicPr>
          <p:nvPr/>
        </p:nvPicPr>
        <p:blipFill>
          <a:blip r:embed="rId3"/>
          <a:srcRect l="0" r="0" t="0" b="0"/>
          <a:stretch>
            <a:fillRect/>
          </a:stretch>
        </p:blipFill>
        <p:spPr>
          <a:xfrm rot="0" flipH="false" flipV="false">
            <a:off x="1498600" y="4445000"/>
            <a:ext cx="1905000" cy="1524000"/>
          </a:xfrm>
          <a:prstGeom prst="rect">
            <a:avLst/>
          </a:prstGeom>
          <a:noFill/>
          <a:ln w="25400" cmpd="sng" cap="flat">
            <a:noFill/>
            <a:prstDash val="solid"/>
            <a:round/>
          </a:ln>
        </p:spPr>
      </p:pic>
      <p:sp>
        <p:nvSpPr>
          <p:cNvPr name="AutoShape 9" id="9"/>
          <p:cNvSpPr/>
          <p:nvPr/>
        </p:nvSpPr>
        <p:spPr>
          <a:xfrm rot="0" flipH="false" flipV="false">
            <a:off x="4406900" y="1905000"/>
            <a:ext cx="3378200" cy="4191000"/>
          </a:xfrm>
          <a:prstGeom prst="roundRect">
            <a:avLst>
              <a:gd name="adj" fmla="val 0"/>
            </a:avLst>
          </a:prstGeom>
          <a:solidFill>
            <a:srgbClr val="FFFFFF">
              <a:alpha val="60000"/>
            </a:srgbClr>
          </a:solidFill>
          <a:ln w="12700" cmpd="sng" cap="flat">
            <a:solidFill>
              <a:srgbClr val="D1D5DB">
                <a:alpha val="7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597400" y="2222500"/>
            <a:ext cx="29972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C55E"/>
                </a:solidFill>
                <a:latin typeface="Noto Sans SC"/>
                <a:ea typeface="Noto Sans SC"/>
                <a:cs typeface="Noto Sans SC"/>
                <a:sym typeface="Noto Sans SC"/>
              </a:rPr>
              <a:t>02 叙事为王</a:t>
            </a:r>
            <a:endParaRPr lang="en-US" sz="1100"/>
          </a:p>
        </p:txBody>
      </p:sp>
      <p:sp>
        <p:nvSpPr>
          <p:cNvPr name="AutoShape 11" id="11"/>
          <p:cNvSpPr/>
          <p:nvPr/>
        </p:nvSpPr>
        <p:spPr>
          <a:xfrm rot="0" flipH="false" flipV="false">
            <a:off x="4597400" y="2730500"/>
            <a:ext cx="29972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构建清晰的故事线</a:t>
            </a:r>
            <a:endParaRPr lang="en-US" sz="1100"/>
          </a:p>
        </p:txBody>
      </p:sp>
      <p:sp>
        <p:nvSpPr>
          <p:cNvPr name="AutoShape 12" id="12"/>
          <p:cNvSpPr/>
          <p:nvPr/>
        </p:nvSpPr>
        <p:spPr>
          <a:xfrm rot="0" flipH="false" flipV="false">
            <a:off x="4597400" y="3238500"/>
            <a:ext cx="2997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遵循“起承转合”的经典叙事结构，让逻辑层层递进、引人入胜；恪守“一页一议”原则，确保单页聚焦一个核心观点，避免信息过载。</a:t>
            </a:r>
            <a:endParaRPr lang="en-US" sz="1100"/>
          </a:p>
        </p:txBody>
      </p:sp>
      <p:pic>
        <p:nvPicPr>
          <p:cNvPr name="Picture 13" id="13"/>
          <p:cNvPicPr>
            <a:picLocks noChangeAspect="true"/>
          </p:cNvPicPr>
          <p:nvPr/>
        </p:nvPicPr>
        <p:blipFill>
          <a:blip r:embed="rId4"/>
          <a:srcRect l="0" r="0" t="10000" b="10000"/>
          <a:stretch>
            <a:fillRect/>
          </a:stretch>
        </p:blipFill>
        <p:spPr>
          <a:xfrm rot="0" flipH="false" flipV="false">
            <a:off x="5143500" y="4445000"/>
            <a:ext cx="1905000" cy="1524000"/>
          </a:xfrm>
          <a:prstGeom prst="rect">
            <a:avLst/>
          </a:prstGeom>
          <a:noFill/>
          <a:ln w="25400" cmpd="sng" cap="flat">
            <a:noFill/>
            <a:prstDash val="solid"/>
            <a:round/>
          </a:ln>
        </p:spPr>
      </p:pic>
      <p:sp>
        <p:nvSpPr>
          <p:cNvPr name="AutoShape 14" id="14"/>
          <p:cNvSpPr/>
          <p:nvPr/>
        </p:nvSpPr>
        <p:spPr>
          <a:xfrm rot="0" flipH="false" flipV="false">
            <a:off x="8051800" y="1905000"/>
            <a:ext cx="3378200" cy="4191000"/>
          </a:xfrm>
          <a:prstGeom prst="roundRect">
            <a:avLst>
              <a:gd name="adj" fmla="val 0"/>
            </a:avLst>
          </a:prstGeom>
          <a:solidFill>
            <a:srgbClr val="FFFFFF">
              <a:alpha val="60000"/>
            </a:srgbClr>
          </a:solidFill>
          <a:ln w="12700" cmpd="sng" cap="flat">
            <a:solidFill>
              <a:srgbClr val="D1D5DB">
                <a:alpha val="7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242300" y="2222500"/>
            <a:ext cx="29972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C55E"/>
                </a:solidFill>
                <a:latin typeface="Noto Sans SC"/>
                <a:ea typeface="Noto Sans SC"/>
                <a:cs typeface="Noto Sans SC"/>
                <a:sym typeface="Noto Sans SC"/>
              </a:rPr>
              <a:t>03 视觉优先</a:t>
            </a:r>
            <a:endParaRPr lang="en-US" sz="1100"/>
          </a:p>
        </p:txBody>
      </p:sp>
      <p:sp>
        <p:nvSpPr>
          <p:cNvPr name="AutoShape 16" id="16"/>
          <p:cNvSpPr/>
          <p:nvPr/>
        </p:nvSpPr>
        <p:spPr>
          <a:xfrm rot="0" flipH="false" flipV="false">
            <a:off x="8242300" y="2730500"/>
            <a:ext cx="29972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让视觉为内容服务</a:t>
            </a:r>
            <a:endParaRPr lang="en-US" sz="1100"/>
          </a:p>
        </p:txBody>
      </p:sp>
      <p:sp>
        <p:nvSpPr>
          <p:cNvPr name="AutoShape 17" id="17"/>
          <p:cNvSpPr/>
          <p:nvPr/>
        </p:nvSpPr>
        <p:spPr>
          <a:xfrm rot="0" flipH="false" flipV="false">
            <a:off x="8242300" y="3238500"/>
            <a:ext cx="2997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删减冗余文字，仅保留核心关键词；善用高清图片、矢量图标与可视化图表，以直观的视觉语言降低认知负荷，强化信息的记忆点。</a:t>
            </a:r>
            <a:endParaRPr lang="en-US" sz="1100"/>
          </a:p>
        </p:txBody>
      </p:sp>
      <p:pic>
        <p:nvPicPr>
          <p:cNvPr name="Picture 18" id="18"/>
          <p:cNvPicPr>
            <a:picLocks noChangeAspect="true"/>
          </p:cNvPicPr>
          <p:nvPr/>
        </p:nvPicPr>
        <p:blipFill>
          <a:blip r:embed="rId5"/>
          <a:srcRect l="14843" r="14843" t="0" b="0"/>
          <a:stretch>
            <a:fillRect/>
          </a:stretch>
        </p:blipFill>
        <p:spPr>
          <a:xfrm rot="0" flipH="false" flipV="false">
            <a:off x="8788400" y="4445000"/>
            <a:ext cx="1905000" cy="1524000"/>
          </a:xfrm>
          <a:prstGeom prst="rect">
            <a:avLst/>
          </a:prstGeom>
          <a:noFill/>
          <a:ln w="25400" cmpd="sng" cap="flat">
            <a:noFill/>
            <a:prstDash val="solid"/>
            <a:round/>
          </a:ln>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04 制作优秀Deck的关键要素</a:t>
            </a:r>
            <a:endParaRPr lang="en-US" sz="1100"/>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1968500"/>
            <a:ext cx="355600" cy="355600"/>
          </a:xfrm>
          <a:prstGeom prst="rect">
            <a:avLst/>
          </a:prstGeom>
        </p:spPr>
      </p:pic>
      <p:sp>
        <p:nvSpPr>
          <p:cNvPr name="AutoShape 5" id="5"/>
          <p:cNvSpPr/>
          <p:nvPr/>
        </p:nvSpPr>
        <p:spPr>
          <a:xfrm rot="0" flipH="false" flipV="false">
            <a:off x="1219200" y="19304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2C55E"/>
                </a:solidFill>
                <a:latin typeface="Noto Sans SC"/>
                <a:ea typeface="Noto Sans SC"/>
                <a:cs typeface="Noto Sans SC"/>
                <a:sym typeface="Noto Sans SC"/>
              </a:rPr>
              <a:t>数据支撑</a:t>
            </a:r>
            <a:r>
              <a:rPr lang="en-US" b="false" i="false" strike="noStrike" u="none" sz="1600">
                <a:solidFill>
                  <a:srgbClr val="6B7280"/>
                </a:solidFill>
                <a:latin typeface="Noto Sans SC"/>
                <a:ea typeface="Noto Sans SC"/>
                <a:cs typeface="Noto Sans SC"/>
                <a:sym typeface="Noto Sans SC"/>
              </a:rPr>
              <a:t>| 用事实增强说服力</a:t>
            </a:r>
            <a:endParaRPr lang="en-US" sz="1100"/>
          </a:p>
        </p:txBody>
      </p:sp>
      <p:cxnSp>
        <p:nvCxnSpPr>
          <p:cNvPr name="Connector 6" id="6"/>
          <p:cNvCxnSpPr/>
          <p:nvPr/>
        </p:nvCxnSpPr>
        <p:spPr>
          <a:xfrm rot="-8185" flipH="false" flipV="false">
            <a:off x="762008" y="2470150"/>
            <a:ext cx="53340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7" id="7"/>
          <p:cNvSpPr/>
          <p:nvPr/>
        </p:nvSpPr>
        <p:spPr>
          <a:xfrm rot="0" flipH="false" flipV="false">
            <a:off x="762000" y="2603500"/>
            <a:ext cx="53340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74151"/>
                </a:solidFill>
                <a:latin typeface="Noto Sans SC"/>
                <a:ea typeface="Noto Sans SC"/>
                <a:cs typeface="Noto Sans SC"/>
                <a:sym typeface="Noto Sans SC"/>
              </a:rPr>
              <a:t>01 具体量化：</a:t>
            </a:r>
            <a:r>
              <a:rPr lang="en-US" b="false" i="false" strike="noStrike" u="none" sz="1400">
                <a:solidFill>
                  <a:srgbClr val="4B5563"/>
                </a:solidFill>
                <a:latin typeface="Noto Sans SC"/>
                <a:ea typeface="Noto Sans SC"/>
                <a:cs typeface="Noto Sans SC"/>
                <a:sym typeface="Noto Sans SC"/>
              </a:rPr>
              <a:t>拒绝“市场很大”等模糊表述，用“500亿美元规模”等具体数据，让观点扎实可信。</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74151"/>
                </a:solidFill>
                <a:latin typeface="Noto Sans SC"/>
                <a:ea typeface="Noto Sans SC"/>
                <a:cs typeface="Noto Sans SC"/>
                <a:sym typeface="Noto Sans SC"/>
              </a:rPr>
              <a:t>02 社会证明：</a:t>
            </a:r>
            <a:r>
              <a:rPr lang="en-US" b="false" i="false" strike="noStrike" u="none" sz="1400">
                <a:solidFill>
                  <a:srgbClr val="4B5563"/>
                </a:solidFill>
                <a:latin typeface="Noto Sans SC"/>
                <a:ea typeface="Noto Sans SC"/>
                <a:cs typeface="Noto Sans SC"/>
                <a:sym typeface="Noto Sans SC"/>
              </a:rPr>
              <a:t>展示知名客户Logo、真实成功案例与用户好评，构建强有力的信任背书。</a:t>
            </a:r>
            <a:r>
              <a:rPr lang="en-US" b="false" i="false" strike="noStrike" u="none" sz="14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400">
                <a:solidFill>
                  <a:srgbClr val="374151"/>
                </a:solidFill>
                <a:latin typeface="Noto Sans SC"/>
                <a:ea typeface="Noto Sans SC"/>
                <a:cs typeface="Noto Sans SC"/>
                <a:sym typeface="Noto Sans SC"/>
              </a:rPr>
              <a:t>03 可视化呈现：</a:t>
            </a:r>
            <a:r>
              <a:rPr lang="en-US" b="false" i="false" strike="noStrike" u="none" sz="1400">
                <a:solidFill>
                  <a:srgbClr val="4B5563"/>
                </a:solidFill>
                <a:latin typeface="Noto Sans SC"/>
                <a:ea typeface="Noto Sans SC"/>
                <a:cs typeface="Noto Sans SC"/>
                <a:sym typeface="Noto Sans SC"/>
              </a:rPr>
              <a:t>利用图表直观展示趋势、对比与增长，让复杂数据一目了然，降低认知门槛。</a:t>
            </a: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4381500"/>
            <a:ext cx="355600" cy="355600"/>
          </a:xfrm>
          <a:prstGeom prst="rect">
            <a:avLst/>
          </a:prstGeom>
        </p:spPr>
      </p:pic>
      <p:sp>
        <p:nvSpPr>
          <p:cNvPr name="AutoShape 9" id="9"/>
          <p:cNvSpPr/>
          <p:nvPr/>
        </p:nvSpPr>
        <p:spPr>
          <a:xfrm rot="0" flipH="false" flipV="false">
            <a:off x="1219200" y="43434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2C55E"/>
                </a:solidFill>
                <a:latin typeface="Noto Sans SC"/>
                <a:ea typeface="Noto Sans SC"/>
                <a:cs typeface="Noto Sans SC"/>
                <a:sym typeface="Noto Sans SC"/>
              </a:rPr>
              <a:t>持续迭代</a:t>
            </a:r>
            <a:r>
              <a:rPr lang="en-US" b="false" i="false" strike="noStrike" u="none" sz="1600">
                <a:solidFill>
                  <a:srgbClr val="6B7280"/>
                </a:solidFill>
                <a:latin typeface="Noto Sans SC"/>
                <a:ea typeface="Noto Sans SC"/>
                <a:cs typeface="Noto Sans SC"/>
                <a:sym typeface="Noto Sans SC"/>
              </a:rPr>
              <a:t>| 在实践中不断优化</a:t>
            </a:r>
            <a:endParaRPr lang="en-US" sz="1100"/>
          </a:p>
        </p:txBody>
      </p:sp>
      <p:cxnSp>
        <p:nvCxnSpPr>
          <p:cNvPr name="Connector 10" id="10"/>
          <p:cNvCxnSpPr/>
          <p:nvPr/>
        </p:nvCxnSpPr>
        <p:spPr>
          <a:xfrm rot="-8185" flipH="false" flipV="false">
            <a:off x="762008" y="4883150"/>
            <a:ext cx="53340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11" id="11"/>
          <p:cNvSpPr/>
          <p:nvPr/>
        </p:nvSpPr>
        <p:spPr>
          <a:xfrm rot="0" flipH="false" flipV="false">
            <a:off x="762000" y="5016500"/>
            <a:ext cx="5334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74151"/>
                </a:solidFill>
                <a:latin typeface="Noto Sans SC"/>
                <a:ea typeface="Noto Sans SC"/>
                <a:cs typeface="Noto Sans SC"/>
                <a:sym typeface="Noto Sans SC"/>
              </a:rPr>
              <a:t>测试反馈闭环：</a:t>
            </a:r>
            <a:r>
              <a:rPr lang="en-US" b="false" i="false" strike="noStrike" u="none" sz="1400">
                <a:solidFill>
                  <a:srgbClr val="4B5563"/>
                </a:solidFill>
                <a:latin typeface="Noto Sans SC"/>
                <a:ea typeface="Noto Sans SC"/>
                <a:cs typeface="Noto Sans SC"/>
                <a:sym typeface="Noto Sans SC"/>
              </a:rPr>
              <a:t>正式演示前，向目标受众代表预演，收集真实反馈，验证逻辑通顺度与吸引力。</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74151"/>
                </a:solidFill>
                <a:latin typeface="Noto Sans SC"/>
                <a:ea typeface="Noto Sans SC"/>
                <a:cs typeface="Noto Sans SC"/>
                <a:sym typeface="Noto Sans SC"/>
              </a:rPr>
              <a:t>动态优化调整：</a:t>
            </a:r>
            <a:r>
              <a:rPr lang="en-US" b="false" i="false" strike="noStrike" u="none" sz="1400">
                <a:solidFill>
                  <a:srgbClr val="4B5563"/>
                </a:solidFill>
                <a:latin typeface="Noto Sans SC"/>
                <a:ea typeface="Noto Sans SC"/>
                <a:cs typeface="Noto Sans SC"/>
                <a:sym typeface="Noto Sans SC"/>
              </a:rPr>
              <a:t>根据观众反应、演示效果和反馈意见，持续打磨内容结构、视觉呈现与叙事节奏。</a:t>
            </a:r>
          </a:p>
        </p:txBody>
      </p:sp>
      <p:sp>
        <p:nvSpPr>
          <p:cNvPr name="AutoShape 12" id="12"/>
          <p:cNvSpPr/>
          <p:nvPr/>
        </p:nvSpPr>
        <p:spPr>
          <a:xfrm rot="0" flipH="false" flipV="false">
            <a:off x="6705600" y="2641600"/>
            <a:ext cx="4622800" cy="3098800"/>
          </a:xfrm>
          <a:prstGeom prst="roundRect">
            <a:avLst>
              <a:gd name="adj" fmla="val 0"/>
            </a:avLst>
          </a:prstGeom>
          <a:solidFill>
            <a:srgbClr val="22C55E">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srcRect l="0" r="0" t="0" b="0"/>
          <a:stretch>
            <a:fillRect/>
          </a:stretch>
        </p:blipFill>
        <p:spPr>
          <a:xfrm rot="0" flipH="false" flipV="false">
            <a:off x="6604000" y="2540000"/>
            <a:ext cx="4572000" cy="3048000"/>
          </a:xfrm>
          <a:prstGeom prst="rect">
            <a:avLst/>
          </a:prstGeom>
          <a:noFill/>
          <a:ln w="25400" cmpd="sng" cap="flat">
            <a:noFill/>
            <a:prstDash val="solid"/>
            <a:round/>
          </a:ln>
          <a:effectLst>
            <a:outerShdw dir="2700000" dist="101600" blurRad="254000" algn="tl" rotWithShape="false">
              <a:srgbClr val="000000">
                <a:alpha val="10000"/>
              </a:srgbClr>
            </a:outerShdw>
          </a:effectLst>
        </p:spPr>
      </p:pic>
      <p:sp>
        <p:nvSpPr>
          <p:cNvPr name="AutoShape 14" id="14"/>
          <p:cNvSpPr/>
          <p:nvPr/>
        </p:nvSpPr>
        <p:spPr>
          <a:xfrm rot="0" flipH="false" flipV="false">
            <a:off x="6604000" y="5842000"/>
            <a:ext cx="457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22C55E"/>
                </a:solidFill>
                <a:latin typeface="Noto Sans SC"/>
                <a:ea typeface="Noto Sans SC"/>
                <a:cs typeface="Noto Sans SC"/>
                <a:sym typeface="Noto Sans SC"/>
              </a:rPr>
              <a:t>“数据是最有力的语言，迭代是通往完美的路径”</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总结：重新定义商业演示</a:t>
            </a:r>
            <a:endParaRPr lang="en-US" sz="1100"/>
          </a:p>
        </p:txBody>
      </p:sp>
      <p:sp>
        <p:nvSpPr>
          <p:cNvPr name="AutoShape 4" id="4"/>
          <p:cNvSpPr/>
          <p:nvPr/>
        </p:nvSpPr>
        <p:spPr>
          <a:xfrm rot="0" flipH="false" flipV="false">
            <a:off x="762000" y="2032000"/>
            <a:ext cx="3429000" cy="2667000"/>
          </a:xfrm>
          <a:prstGeom prst="roundRect">
            <a:avLst>
              <a:gd name="adj" fmla="val 0"/>
            </a:avLst>
          </a:prstGeom>
          <a:solidFill>
            <a:srgbClr val="FFFFFF">
              <a:alpha val="60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3114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Deck是一种思维模式</a:t>
            </a:r>
            <a:endParaRPr lang="en-US" sz="1100"/>
          </a:p>
        </p:txBody>
      </p:sp>
      <p:sp>
        <p:nvSpPr>
          <p:cNvPr name="AutoShape 7" id="7"/>
          <p:cNvSpPr/>
          <p:nvPr/>
        </p:nvSpPr>
        <p:spPr>
          <a:xfrm rot="0" flipH="false" flipV="false">
            <a:off x="1016000" y="2984500"/>
            <a:ext cx="2921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跳出“信息罗列”的惯性，从受众视角重构表达逻辑。核心是回答“我要让观众相信什么、做什么”，将单向输出转变为双向的价值共鸣与行动引导。</a:t>
            </a:r>
            <a:endParaRPr lang="en-US" sz="1100"/>
          </a:p>
        </p:txBody>
      </p:sp>
      <p:sp>
        <p:nvSpPr>
          <p:cNvPr name="AutoShape 8" id="8"/>
          <p:cNvSpPr/>
          <p:nvPr/>
        </p:nvSpPr>
        <p:spPr>
          <a:xfrm rot="0" flipH="false" flipV="false">
            <a:off x="4381500" y="2032000"/>
            <a:ext cx="3429000" cy="2667000"/>
          </a:xfrm>
          <a:prstGeom prst="roundRect">
            <a:avLst>
              <a:gd name="adj" fmla="val 0"/>
            </a:avLst>
          </a:prstGeom>
          <a:solidFill>
            <a:srgbClr val="FFFFFF">
              <a:alpha val="60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2286000"/>
            <a:ext cx="406400" cy="406400"/>
          </a:xfrm>
          <a:prstGeom prst="rect">
            <a:avLst/>
          </a:prstGeom>
        </p:spPr>
      </p:pic>
      <p:sp>
        <p:nvSpPr>
          <p:cNvPr name="AutoShape 10" id="10"/>
          <p:cNvSpPr/>
          <p:nvPr/>
        </p:nvSpPr>
        <p:spPr>
          <a:xfrm rot="0" flipH="false" flipV="false">
            <a:off x="5143500" y="23114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Deck是一种战略工具</a:t>
            </a:r>
            <a:endParaRPr lang="en-US" sz="1100"/>
          </a:p>
        </p:txBody>
      </p:sp>
      <p:sp>
        <p:nvSpPr>
          <p:cNvPr name="AutoShape 11" id="11"/>
          <p:cNvSpPr/>
          <p:nvPr/>
        </p:nvSpPr>
        <p:spPr>
          <a:xfrm rot="0" flipH="false" flipV="false">
            <a:off x="4635500" y="2984500"/>
            <a:ext cx="2921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它是承载商业战略的叙事载体，而非简单的内容容器。通过结构化的故事线与数据支撑，将抽象的战略意图转化为可感知的决策依据，驱动关键行动。</a:t>
            </a:r>
            <a:endParaRPr lang="en-US" sz="1100"/>
          </a:p>
        </p:txBody>
      </p:sp>
      <p:sp>
        <p:nvSpPr>
          <p:cNvPr name="AutoShape 12" id="12"/>
          <p:cNvSpPr/>
          <p:nvPr/>
        </p:nvSpPr>
        <p:spPr>
          <a:xfrm rot="0" flipH="false" flipV="false">
            <a:off x="8001000" y="2032000"/>
            <a:ext cx="3429000" cy="2667000"/>
          </a:xfrm>
          <a:prstGeom prst="roundRect">
            <a:avLst>
              <a:gd name="adj" fmla="val 0"/>
            </a:avLst>
          </a:prstGeom>
          <a:solidFill>
            <a:srgbClr val="FFFFFF">
              <a:alpha val="60000"/>
            </a:srgbClr>
          </a:solidFill>
          <a:ln w="12700" cmpd="sng" cap="flat">
            <a:solidFill>
              <a:srgbClr val="22C55E">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2286000"/>
            <a:ext cx="406400" cy="406400"/>
          </a:xfrm>
          <a:prstGeom prst="rect">
            <a:avLst/>
          </a:prstGeom>
        </p:spPr>
      </p:pic>
      <p:sp>
        <p:nvSpPr>
          <p:cNvPr name="AutoShape 14" id="14"/>
          <p:cNvSpPr/>
          <p:nvPr/>
        </p:nvSpPr>
        <p:spPr>
          <a:xfrm rot="0" flipH="false" flipV="false">
            <a:off x="8763000" y="23114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C55E"/>
                </a:solidFill>
                <a:latin typeface="Noto Sans SC"/>
                <a:ea typeface="Noto Sans SC"/>
                <a:cs typeface="Noto Sans SC"/>
                <a:sym typeface="Noto Sans SC"/>
              </a:rPr>
              <a:t>Deck是一种沟通艺术</a:t>
            </a:r>
            <a:endParaRPr lang="en-US" sz="1100"/>
          </a:p>
        </p:txBody>
      </p:sp>
      <p:sp>
        <p:nvSpPr>
          <p:cNvPr name="AutoShape 15" id="15"/>
          <p:cNvSpPr/>
          <p:nvPr/>
        </p:nvSpPr>
        <p:spPr>
          <a:xfrm rot="0" flipH="false" flipV="false">
            <a:off x="8255000" y="2984500"/>
            <a:ext cx="2921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用设计的逻辑做沟通，追求简洁、专业与视觉的平衡。通过留白、排版与视觉符号的运用，剥离干扰信息，让核心观点成为视觉与认知的绝对焦点。</a:t>
            </a:r>
            <a:endParaRPr lang="en-US" sz="1100"/>
          </a:p>
        </p:txBody>
      </p:sp>
      <p:sp>
        <p:nvSpPr>
          <p:cNvPr name="AutoShape 16" id="16"/>
          <p:cNvSpPr/>
          <p:nvPr/>
        </p:nvSpPr>
        <p:spPr>
          <a:xfrm rot="0" flipH="false" flipV="false">
            <a:off x="762000" y="5080000"/>
            <a:ext cx="10668000" cy="1079500"/>
          </a:xfrm>
          <a:prstGeom prst="roundRect">
            <a:avLst>
              <a:gd name="adj" fmla="val 0"/>
            </a:avLst>
          </a:prstGeom>
          <a:solidFill>
            <a:srgbClr val="22C55E">
              <a:alpha val="8000"/>
            </a:srgbClr>
          </a:solidFill>
          <a:ln cmpd="sng" cap="flat">
            <a:solidFill>
              <a:srgbClr val="0CAC47">
                <a:alpha val="8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16000" y="5270500"/>
            <a:ext cx="1016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5803D"/>
                </a:solidFill>
                <a:latin typeface="Noto Sans SC"/>
                <a:ea typeface="Noto Sans SC"/>
                <a:cs typeface="Noto Sans SC"/>
                <a:sym typeface="Noto Sans SC"/>
              </a:rPr>
              <a:t>核心价值：</a:t>
            </a:r>
            <a:r>
              <a:rPr lang="en-US" b="false" i="false" strike="noStrike" u="none" sz="1500">
                <a:solidFill>
                  <a:srgbClr val="374151"/>
                </a:solidFill>
                <a:latin typeface="Noto Sans SC"/>
                <a:ea typeface="Noto Sans SC"/>
                <a:cs typeface="Noto Sans SC"/>
                <a:sym typeface="Noto Sans SC"/>
              </a:rPr>
              <a:t>掌握Deck的制作方法，意味着你掌握了在现代商业环境中高效沟通的核心语言。它能帮助你在有限时间内清晰传递价值、快速凝聚共识，让每一次演示都成为推动目标达成的关键契机。</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cmpd="sng" cap="flat">
            <a:solidFill>
              <a:srgbClr val="000000">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286000"/>
            <a:ext cx="1219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Q&amp;A</a:t>
            </a:r>
            <a:endParaRPr lang="en-US" sz="1100"/>
          </a:p>
        </p:txBody>
      </p:sp>
      <p:sp>
        <p:nvSpPr>
          <p:cNvPr name="AutoShape 4" id="4"/>
          <p:cNvSpPr/>
          <p:nvPr/>
        </p:nvSpPr>
        <p:spPr>
          <a:xfrm rot="0" flipH="false" flipV="false">
            <a:off x="0" y="3810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5600">
                <a:solidFill>
                  <a:srgbClr val="FFFFFF"/>
                </a:solidFill>
                <a:latin typeface="Noto Sans SC"/>
                <a:ea typeface="Noto Sans SC"/>
                <a:cs typeface="Noto Sans SC"/>
                <a:sym typeface="Noto Sans SC"/>
              </a:rPr>
              <a:t>感谢观看</a:t>
            </a:r>
            <a:endParaRPr lang="en-US" sz="1100"/>
          </a:p>
        </p:txBody>
      </p:sp>
      <p:sp>
        <p:nvSpPr>
          <p:cNvPr name="AutoShape 5" id="5"/>
          <p:cNvSpPr/>
          <p:nvPr/>
        </p:nvSpPr>
        <p:spPr>
          <a:xfrm rot="0" flipH="false" flipV="false">
            <a:off x="0" y="52705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FFFFFF">
                    <a:alpha val="74902"/>
                  </a:srgbClr>
                </a:solidFill>
                <a:latin typeface="Noto Sans SC"/>
                <a:ea typeface="Noto Sans SC"/>
                <a:cs typeface="Noto Sans SC"/>
                <a:sym typeface="Noto Sans SC"/>
              </a:rPr>
              <a:t>欢迎大家提问交流，共同探讨更多可能</a:t>
            </a:r>
            <a:endParaRPr lang="en-US" sz="1100"/>
          </a:p>
        </p:txBody>
      </p:sp>
      <p:sp>
        <p:nvSpPr>
          <p:cNvPr name="AutoShape 6" id="6"/>
          <p:cNvSpPr/>
          <p:nvPr/>
        </p:nvSpPr>
        <p:spPr>
          <a:xfrm rot="0" flipH="false" flipV="false">
            <a:off x="5638800" y="6045200"/>
            <a:ext cx="152400" cy="152400"/>
          </a:xfrm>
          <a:prstGeom prst="ellipse">
            <a:avLst/>
          </a:prstGeom>
          <a:solidFill>
            <a:srgbClr val="22C55E">
              <a:alpha val="100000"/>
            </a:srgbClr>
          </a:solidFill>
          <a:ln cmpd="sng" cap="flat">
            <a:solidFill>
              <a:srgbClr val="0CAC47">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400800" y="6045200"/>
            <a:ext cx="152400" cy="152400"/>
          </a:xfrm>
          <a:prstGeom prst="ellipse">
            <a:avLst/>
          </a:prstGeom>
          <a:solidFill>
            <a:srgbClr val="22C55E">
              <a:alpha val="50000"/>
            </a:srgbClr>
          </a:solidFill>
          <a:ln cmpd="sng" cap="flat">
            <a:solidFill>
              <a:srgbClr val="0CAC47">
                <a:alpha val="5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{"Label":"1","ContentProducer":"001191110102MACQD9K64010000","ProduceID":"7671178694929501122","ReservedCode1":"","ContentPropagator":"","PropagateID":"","ReservedCode2":""}</vt:lpwstr>
  </property>
</Properties>
</file>